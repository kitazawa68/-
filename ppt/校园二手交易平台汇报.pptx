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4" r:id="rId4"/>
    <p:sldId id="265" r:id="rId5"/>
    <p:sldId id="266" r:id="rId6"/>
    <p:sldId id="267" r:id="rId7"/>
    <p:sldId id="277" r:id="rId8"/>
    <p:sldId id="278" r:id="rId9"/>
    <p:sldId id="279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7" d="100"/>
          <a:sy n="57" d="100"/>
        </p:scale>
        <p:origin x="645" y="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16736" y="1645920"/>
            <a:ext cx="954633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rPr dirty="0" err="1"/>
              <a:t>校园二手交易系统</a:t>
            </a:r>
            <a:r>
              <a:rPr lang="zh-CN" altLang="en-US" dirty="0"/>
              <a:t>：项目阶段二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4828032" y="2560320"/>
            <a:ext cx="2542032" cy="18288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14984" y="2788920"/>
            <a:ext cx="1015898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CCCC"/>
                </a:solidFill>
                <a:latin typeface="Microsoft YaHei"/>
              </a:defRPr>
            </a:pPr>
            <a:r>
              <a:t>数据库系统设计与技术汇报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9624" y="3840480"/>
            <a:ext cx="4498848" cy="1097280"/>
          </a:xfrm>
          <a:prstGeom prst="round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968496" y="3977639"/>
            <a:ext cx="41513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Microsoft YaHei"/>
              </a:defRPr>
            </a:pPr>
            <a:r>
              <a:rPr dirty="0" err="1"/>
              <a:t>报告人</a:t>
            </a:r>
            <a:r>
              <a:rPr dirty="0"/>
              <a:t>：</a:t>
            </a:r>
            <a:r>
              <a:rPr lang="zh-CN" altLang="en-US" sz="1600" dirty="0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赵恢栋，常修源，黄鑫，魏奕晨，</a:t>
            </a:r>
            <a:br>
              <a:rPr lang="en-US" altLang="zh-CN" sz="1600" dirty="0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zh-CN" altLang="en-US" sz="1600" dirty="0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唐雪茹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3968496" y="4516693"/>
            <a:ext cx="41513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Microsoft YaHei"/>
              </a:defRPr>
            </a:pPr>
            <a:r>
              <a:t>2026.4.7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5303520"/>
            <a:ext cx="1463040" cy="365760"/>
          </a:xfrm>
          <a:prstGeom prst="roundRect">
            <a:avLst/>
          </a:prstGeom>
          <a:solidFill>
            <a:srgbClr val="252545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71800" y="532180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2FF"/>
                </a:solidFill>
                <a:latin typeface="Microsoft YaHei"/>
              </a:defRPr>
            </a:pPr>
            <a:r>
              <a:t>Vue 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5303520"/>
            <a:ext cx="1463040" cy="365760"/>
          </a:xfrm>
          <a:prstGeom prst="roundRect">
            <a:avLst/>
          </a:prstGeom>
          <a:solidFill>
            <a:srgbClr val="252545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00600" y="532180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2FF"/>
                </a:solidFill>
                <a:latin typeface="Microsoft YaHei"/>
              </a:defRPr>
            </a:pPr>
            <a:r>
              <a:t>Spring Boot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5303520"/>
            <a:ext cx="1463040" cy="365760"/>
          </a:xfrm>
          <a:prstGeom prst="roundRect">
            <a:avLst/>
          </a:prstGeom>
          <a:solidFill>
            <a:srgbClr val="252545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29400" y="5321808"/>
            <a:ext cx="1371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2FF"/>
                </a:solidFill>
                <a:latin typeface="Microsoft YaHei"/>
              </a:defRPr>
            </a:pPr>
            <a:r>
              <a:rPr dirty="0"/>
              <a:t>Go / </a:t>
            </a:r>
            <a:r>
              <a:rPr lang="en-US" altLang="zh-CN" dirty="0"/>
              <a:t>Java</a:t>
            </a:r>
            <a:endParaRPr dirty="0"/>
          </a:p>
        </p:txBody>
      </p:sp>
      <p:sp>
        <p:nvSpPr>
          <p:cNvPr id="15" name="Rounded Rectangle 14"/>
          <p:cNvSpPr/>
          <p:nvPr/>
        </p:nvSpPr>
        <p:spPr>
          <a:xfrm>
            <a:off x="8412480" y="5303520"/>
            <a:ext cx="1463040" cy="365760"/>
          </a:xfrm>
          <a:prstGeom prst="roundRect">
            <a:avLst/>
          </a:prstGeom>
          <a:solidFill>
            <a:srgbClr val="252545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58200" y="532180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2FF"/>
                </a:solidFill>
                <a:latin typeface="Microsoft YaHei"/>
              </a:defRPr>
            </a:pPr>
            <a:r>
              <a:t>MySQL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8952" y="512064"/>
            <a:ext cx="27432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目录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758952" y="1078992"/>
            <a:ext cx="758952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74870" y="1975104"/>
            <a:ext cx="10671048" cy="731520"/>
          </a:xfrm>
          <a:prstGeom prst="round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25646" y="2140809"/>
            <a:ext cx="914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rPr dirty="0"/>
              <a:t>0</a:t>
            </a:r>
            <a:r>
              <a:rPr lang="en-US" dirty="0"/>
              <a:t>1</a:t>
            </a:r>
            <a:r>
              <a:rPr dirty="0"/>
              <a:t>  </a:t>
            </a:r>
            <a:r>
              <a:rPr dirty="0" err="1"/>
              <a:t>数据表结构设计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674870" y="3326190"/>
            <a:ext cx="10671048" cy="731520"/>
          </a:xfrm>
          <a:prstGeom prst="round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25646" y="3529584"/>
            <a:ext cx="914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rPr dirty="0"/>
              <a:t>0</a:t>
            </a:r>
            <a:r>
              <a:rPr lang="en-US" dirty="0"/>
              <a:t>2</a:t>
            </a:r>
            <a:r>
              <a:rPr dirty="0"/>
              <a:t>  SQL核心查询展示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4870" y="4751541"/>
            <a:ext cx="10671048" cy="731520"/>
          </a:xfrm>
          <a:prstGeom prst="roundRect">
            <a:avLst>
              <a:gd name="adj" fmla="val 13075"/>
            </a:avLst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25646" y="4916720"/>
            <a:ext cx="914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rPr dirty="0"/>
              <a:t>0</a:t>
            </a:r>
            <a:r>
              <a:rPr lang="en-US" dirty="0"/>
              <a:t>3</a:t>
            </a:r>
            <a:r>
              <a:rPr dirty="0"/>
              <a:t>  </a:t>
            </a:r>
            <a:r>
              <a:rPr dirty="0" err="1"/>
              <a:t>系统扩展方向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557016" y="1828800"/>
            <a:ext cx="50840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D2FF"/>
                </a:solidFill>
                <a:latin typeface="Microsoft YaHei"/>
              </a:defRPr>
            </a:pPr>
            <a:r>
              <a:rPr dirty="0"/>
              <a:t>CHAPTER 0</a:t>
            </a:r>
            <a:r>
              <a:rPr lang="en-US" dirty="0"/>
              <a:t>1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2743200" y="2286000"/>
            <a:ext cx="6702552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数据表结构展示</a:t>
            </a:r>
          </a:p>
        </p:txBody>
      </p:sp>
      <p:sp>
        <p:nvSpPr>
          <p:cNvPr id="5" name="Rectangle 4"/>
          <p:cNvSpPr/>
          <p:nvPr/>
        </p:nvSpPr>
        <p:spPr>
          <a:xfrm>
            <a:off x="5458968" y="3200400"/>
            <a:ext cx="1271016" cy="18288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71016" y="3566160"/>
            <a:ext cx="9656064" cy="101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600">
                <a:solidFill>
                  <a:srgbClr val="CCCCCC"/>
                </a:solidFill>
                <a:latin typeface="Microsoft YaHei"/>
              </a:defRPr>
            </a:pPr>
            <a:r>
              <a:t>将概念模型转化为物理模型，展示系统核心数据表的具体结构，</a:t>
            </a:r>
          </a:p>
          <a:p>
            <a:pPr algn="ctr">
              <a:spcAft>
                <a:spcPts val="400"/>
              </a:spcAft>
              <a:defRPr sz="1600">
                <a:solidFill>
                  <a:srgbClr val="CCCCCC"/>
                </a:solidFill>
                <a:latin typeface="Microsoft YaHei"/>
              </a:defRPr>
            </a:pPr>
            <a:r>
              <a:t>包括字段名、数据类型等，呈现数据库的最终实现形式。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88952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8952" y="502920"/>
            <a:ext cx="9144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rPr dirty="0" err="1"/>
              <a:t>用户表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758952" y="1051560"/>
            <a:ext cx="18288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58952" y="1280160"/>
            <a:ext cx="10671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Microsoft YaHei"/>
              </a:defRPr>
            </a:pPr>
            <a:r>
              <a:rPr dirty="0" err="1"/>
              <a:t>用于记录使用系统的普通用户和管理员的核心档案信息，是系统权限管理与身份认证的基础</a:t>
            </a:r>
            <a:r>
              <a:rPr dirty="0"/>
              <a:t>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" y="5303520"/>
            <a:ext cx="10671048" cy="758952"/>
          </a:xfrm>
          <a:prstGeom prst="round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14984" y="5440680"/>
            <a:ext cx="101589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该表作为系统基础核心表，承载所有用户身份信息，是权限控制、数据隔离和个性化服务的基石。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0D8D6C-E8DE-F71B-6233-273FA7C7CA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775755"/>
            <a:ext cx="4490673" cy="330648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ED784CF3-0387-EB35-380C-E4FB30617A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1574" y="2524125"/>
            <a:ext cx="4533900" cy="18097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8952" y="5029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商品信息模型表</a:t>
            </a:r>
          </a:p>
        </p:txBody>
      </p:sp>
      <p:sp>
        <p:nvSpPr>
          <p:cNvPr id="3" name="Rectangle 2"/>
          <p:cNvSpPr/>
          <p:nvPr/>
        </p:nvSpPr>
        <p:spPr>
          <a:xfrm>
            <a:off x="758952" y="1051560"/>
            <a:ext cx="18288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58952" y="1078992"/>
            <a:ext cx="10671048" cy="36576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58952" y="4572000"/>
            <a:ext cx="10671048" cy="1188720"/>
          </a:xfrm>
          <a:prstGeom prst="round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14984" y="46634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Microsoft YaHei"/>
              </a:defRPr>
            </a:pPr>
            <a:r>
              <a:t>核心关联逻辑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" y="5029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该表记录卖家发布的商品详情，通过user_id与用户表建立一对多关系，实现数据关联查询与权限控制。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0461BF0C-3C7F-7EBB-7CF1-F2ECA357E8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406244"/>
            <a:ext cx="3551673" cy="293346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F2B4B6BD-BE1E-33B7-50D1-61C997BFE3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8155" y="1406244"/>
            <a:ext cx="4413144" cy="282373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8952" y="5029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rPr dirty="0" err="1"/>
              <a:t>订单信息模型表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758952" y="1051560"/>
            <a:ext cx="18288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58952" y="1078992"/>
            <a:ext cx="758952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58952" y="5029200"/>
            <a:ext cx="10671048" cy="1188720"/>
          </a:xfrm>
          <a:prstGeom prst="round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14984" y="51206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Microsoft YaHei"/>
              </a:defRPr>
            </a:pPr>
            <a:r>
              <a:t>核心作用：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" y="5486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该表是交易系统的核心枢纽，通过关联买家(user_id)、卖家(sale_id)和商品信息，完整记录每笔交易。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9CFF676D-31E1-578D-4539-D9BB1E1EDD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306797"/>
            <a:ext cx="4303900" cy="3421446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C5D3070B-0D2B-0F13-6ECA-640D651706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3640" y="1088136"/>
            <a:ext cx="3669582" cy="3628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97C233-78A5-700A-BEC7-A58EE28F6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40CC14-585C-9D70-C95A-3399EEB06778}"/>
              </a:ext>
            </a:extLst>
          </p:cNvPr>
          <p:cNvSpPr txBox="1"/>
          <p:nvPr/>
        </p:nvSpPr>
        <p:spPr>
          <a:xfrm>
            <a:off x="758952" y="502920"/>
            <a:ext cx="9144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评论</a:t>
            </a:r>
            <a:r>
              <a:rPr dirty="0"/>
              <a:t>表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08D8492-FDA9-0649-42C9-5818B1FEB734}"/>
              </a:ext>
            </a:extLst>
          </p:cNvPr>
          <p:cNvSpPr/>
          <p:nvPr/>
        </p:nvSpPr>
        <p:spPr>
          <a:xfrm>
            <a:off x="758952" y="1051560"/>
            <a:ext cx="18288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F1760B-1155-D849-1FA6-8CC0477C0542}"/>
              </a:ext>
            </a:extLst>
          </p:cNvPr>
          <p:cNvSpPr/>
          <p:nvPr/>
        </p:nvSpPr>
        <p:spPr>
          <a:xfrm>
            <a:off x="758952" y="1078992"/>
            <a:ext cx="758952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F34445E-B426-8074-939A-128675EE7658}"/>
              </a:ext>
            </a:extLst>
          </p:cNvPr>
          <p:cNvSpPr/>
          <p:nvPr/>
        </p:nvSpPr>
        <p:spPr>
          <a:xfrm>
            <a:off x="758952" y="5029200"/>
            <a:ext cx="10671048" cy="1188720"/>
          </a:xfrm>
          <a:prstGeom prst="round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7E4C71-1CD5-7498-74FD-C8EF94AAD7F7}"/>
              </a:ext>
            </a:extLst>
          </p:cNvPr>
          <p:cNvSpPr txBox="1"/>
          <p:nvPr/>
        </p:nvSpPr>
        <p:spPr>
          <a:xfrm>
            <a:off x="1014984" y="51206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Microsoft YaHei"/>
              </a:defRPr>
            </a:pPr>
            <a:r>
              <a:t>核心作用：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24C609-15A9-B07E-652F-FB29E7F3566F}"/>
              </a:ext>
            </a:extLst>
          </p:cNvPr>
          <p:cNvSpPr txBox="1"/>
          <p:nvPr/>
        </p:nvSpPr>
        <p:spPr>
          <a:xfrm>
            <a:off x="1014984" y="5486400"/>
            <a:ext cx="10058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rPr lang="zh-CN" altLang="en-US" dirty="0"/>
              <a:t>该表用于记录评论的信息</a:t>
            </a:r>
            <a:endParaRPr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5FE2DB5-237F-50F9-7C14-DD4B805FC7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409621"/>
            <a:ext cx="4413315" cy="332552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D234C3E0-7086-F1F4-40B8-F1FF2DE10A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0952" y="1400175"/>
            <a:ext cx="5143500" cy="318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8823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C4D2DD-DC98-7E97-1E5F-D6BACAF6B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45E86A-F225-4DF4-8139-5F932BD025EC}"/>
              </a:ext>
            </a:extLst>
          </p:cNvPr>
          <p:cNvSpPr txBox="1"/>
          <p:nvPr/>
        </p:nvSpPr>
        <p:spPr>
          <a:xfrm>
            <a:off x="758952" y="502920"/>
            <a:ext cx="9144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收藏</a:t>
            </a:r>
            <a:r>
              <a:rPr dirty="0"/>
              <a:t>表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F2835B5-DBA1-64CE-6785-0AFA195E1B19}"/>
              </a:ext>
            </a:extLst>
          </p:cNvPr>
          <p:cNvSpPr/>
          <p:nvPr/>
        </p:nvSpPr>
        <p:spPr>
          <a:xfrm>
            <a:off x="758952" y="1051560"/>
            <a:ext cx="18288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AFB857-F582-8382-79EB-8CC54428CDFE}"/>
              </a:ext>
            </a:extLst>
          </p:cNvPr>
          <p:cNvSpPr/>
          <p:nvPr/>
        </p:nvSpPr>
        <p:spPr>
          <a:xfrm>
            <a:off x="758952" y="1078992"/>
            <a:ext cx="758952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7C8DD0A-3397-B3CF-1D00-B456990C7940}"/>
              </a:ext>
            </a:extLst>
          </p:cNvPr>
          <p:cNvSpPr/>
          <p:nvPr/>
        </p:nvSpPr>
        <p:spPr>
          <a:xfrm>
            <a:off x="758952" y="5029200"/>
            <a:ext cx="10671048" cy="1188720"/>
          </a:xfrm>
          <a:prstGeom prst="round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8161AD-4D94-A920-2AEA-86011A5683F9}"/>
              </a:ext>
            </a:extLst>
          </p:cNvPr>
          <p:cNvSpPr txBox="1"/>
          <p:nvPr/>
        </p:nvSpPr>
        <p:spPr>
          <a:xfrm>
            <a:off x="1014984" y="51206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Microsoft YaHei"/>
              </a:defRPr>
            </a:pPr>
            <a:r>
              <a:t>核心作用：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4100B9-9158-CD45-F528-BAE5B19B8EFA}"/>
              </a:ext>
            </a:extLst>
          </p:cNvPr>
          <p:cNvSpPr txBox="1"/>
          <p:nvPr/>
        </p:nvSpPr>
        <p:spPr>
          <a:xfrm>
            <a:off x="1014984" y="5486400"/>
            <a:ext cx="10058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rPr lang="zh-CN" altLang="en-US" dirty="0"/>
              <a:t>该表用于记录收藏信息，用于存储和找寻</a:t>
            </a:r>
            <a:endParaRPr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C9841E96-D74A-90F3-617A-AB013134D6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664" y="1653159"/>
            <a:ext cx="4686300" cy="283845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E472E8B5-343D-E719-7E34-9F3271BDEB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0952" y="1380139"/>
            <a:ext cx="5448300" cy="316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004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4E2483-9A76-BAF1-83B7-D289A149F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FC21B80-784A-4B90-67A9-CD1B708405EB}"/>
              </a:ext>
            </a:extLst>
          </p:cNvPr>
          <p:cNvSpPr txBox="1"/>
          <p:nvPr/>
        </p:nvSpPr>
        <p:spPr>
          <a:xfrm>
            <a:off x="758952" y="502920"/>
            <a:ext cx="9144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求购</a:t>
            </a:r>
            <a:r>
              <a:rPr dirty="0"/>
              <a:t>表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5E10F9A-5796-AF0F-CB0C-859B028833A0}"/>
              </a:ext>
            </a:extLst>
          </p:cNvPr>
          <p:cNvSpPr/>
          <p:nvPr/>
        </p:nvSpPr>
        <p:spPr>
          <a:xfrm>
            <a:off x="758952" y="1051560"/>
            <a:ext cx="18288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925AE36-7BF8-3AF8-7C86-17FF469E7728}"/>
              </a:ext>
            </a:extLst>
          </p:cNvPr>
          <p:cNvSpPr/>
          <p:nvPr/>
        </p:nvSpPr>
        <p:spPr>
          <a:xfrm>
            <a:off x="758952" y="1078992"/>
            <a:ext cx="758952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5C1896C-D258-B139-682F-04CD0E6422FD}"/>
              </a:ext>
            </a:extLst>
          </p:cNvPr>
          <p:cNvSpPr/>
          <p:nvPr/>
        </p:nvSpPr>
        <p:spPr>
          <a:xfrm>
            <a:off x="758952" y="5029200"/>
            <a:ext cx="10671048" cy="1188720"/>
          </a:xfrm>
          <a:prstGeom prst="round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807218-364F-E6E3-352B-2B74E663DB0C}"/>
              </a:ext>
            </a:extLst>
          </p:cNvPr>
          <p:cNvSpPr txBox="1"/>
          <p:nvPr/>
        </p:nvSpPr>
        <p:spPr>
          <a:xfrm>
            <a:off x="1014984" y="51206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Microsoft YaHei"/>
              </a:defRPr>
            </a:pPr>
            <a:r>
              <a:t>核心作用：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8F010D-2203-0F18-4BA3-E4D670CAEE14}"/>
              </a:ext>
            </a:extLst>
          </p:cNvPr>
          <p:cNvSpPr txBox="1"/>
          <p:nvPr/>
        </p:nvSpPr>
        <p:spPr>
          <a:xfrm>
            <a:off x="1014984" y="5486400"/>
            <a:ext cx="10058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rPr lang="zh-CN" altLang="en-US" dirty="0"/>
              <a:t>该表用于记录求购者信息</a:t>
            </a:r>
            <a:endParaRPr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9967F9E4-56F0-63CD-327F-B4EBFF7D0CF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093" r="7443"/>
          <a:stretch>
            <a:fillRect/>
          </a:stretch>
        </p:blipFill>
        <p:spPr>
          <a:xfrm>
            <a:off x="758952" y="1574456"/>
            <a:ext cx="4559847" cy="310515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28A0AEFC-C9F0-EF51-6409-6BFD2EDBAB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2271" y="1574456"/>
            <a:ext cx="5124450" cy="3105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5543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557016" y="1828800"/>
            <a:ext cx="50840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D2FF"/>
                </a:solidFill>
                <a:latin typeface="Microsoft YaHei"/>
              </a:defRPr>
            </a:pPr>
            <a:r>
              <a:rPr dirty="0"/>
              <a:t>CHAPTER 0</a:t>
            </a:r>
            <a:r>
              <a:rPr lang="en-US" dirty="0"/>
              <a:t>2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2743200" y="2286000"/>
            <a:ext cx="6702552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SQL 核心查询展示</a:t>
            </a:r>
          </a:p>
        </p:txBody>
      </p:sp>
      <p:sp>
        <p:nvSpPr>
          <p:cNvPr id="5" name="Rectangle 4"/>
          <p:cNvSpPr/>
          <p:nvPr/>
        </p:nvSpPr>
        <p:spPr>
          <a:xfrm>
            <a:off x="5458968" y="3200400"/>
            <a:ext cx="1271016" cy="18288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655064" y="3566160"/>
            <a:ext cx="8887968" cy="101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600">
                <a:solidFill>
                  <a:srgbClr val="CCCCCC"/>
                </a:solidFill>
                <a:latin typeface="Microsoft YaHei"/>
              </a:defRPr>
            </a:pPr>
            <a:r>
              <a:t>展示单表查询、连接查询、嵌套查询、集合查询与派生表查询，</a:t>
            </a:r>
          </a:p>
          <a:p>
            <a:pPr algn="ctr">
              <a:spcAft>
                <a:spcPts val="400"/>
              </a:spcAft>
              <a:defRPr sz="1600">
                <a:solidFill>
                  <a:srgbClr val="CCCCCC"/>
                </a:solidFill>
                <a:latin typeface="Microsoft YaHei"/>
              </a:defRPr>
            </a:pPr>
            <a:r>
              <a:t>覆盖系统核心业务场景。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88952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8952" y="5029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单表查询</a:t>
            </a:r>
          </a:p>
        </p:txBody>
      </p:sp>
      <p:sp>
        <p:nvSpPr>
          <p:cNvPr id="3" name="Rectangle 2"/>
          <p:cNvSpPr/>
          <p:nvPr/>
        </p:nvSpPr>
        <p:spPr>
          <a:xfrm>
            <a:off x="758952" y="1051560"/>
            <a:ext cx="18288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58952" y="12801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CCCCC"/>
                </a:solidFill>
                <a:latin typeface="Microsoft YaHei"/>
              </a:defRPr>
            </a:pPr>
            <a:r>
              <a:t>查询所有正在上架的商品名称和价格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" y="1600200"/>
            <a:ext cx="5029200" cy="64008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1645920"/>
            <a:ext cx="484632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E676"/>
                </a:solidFill>
                <a:latin typeface="Consolas"/>
              </a:defRPr>
            </a:pPr>
            <a:r>
              <a:rPr dirty="0"/>
              <a:t>SELECT name, price FROM goods</a:t>
            </a:r>
            <a:br>
              <a:rPr dirty="0"/>
            </a:br>
            <a:r>
              <a:rPr dirty="0"/>
              <a:t>WHERE status = 'ON_SALE';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4712577"/>
            <a:ext cx="50840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CCCCC"/>
                </a:solidFill>
                <a:latin typeface="Microsoft YaHei"/>
              </a:defRPr>
            </a:pPr>
            <a:r>
              <a:t>查询价格在50~500之间的商品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0392" y="5074921"/>
            <a:ext cx="5084064" cy="64008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21354" y="5120640"/>
            <a:ext cx="4901183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E676"/>
                </a:solidFill>
                <a:latin typeface="Consolas"/>
              </a:defRPr>
            </a:pPr>
            <a:r>
              <a:rPr dirty="0"/>
              <a:t>SELECT * FROM goods</a:t>
            </a:r>
            <a:br>
              <a:rPr dirty="0"/>
            </a:br>
            <a:r>
              <a:rPr dirty="0"/>
              <a:t>WHERE price BETWEEN 50 AND 500</a:t>
            </a:r>
            <a:br>
              <a:rPr dirty="0"/>
            </a:br>
            <a:r>
              <a:rPr dirty="0"/>
              <a:t>ORDER BY price ASC;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4688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CCCCC"/>
                </a:solidFill>
                <a:latin typeface="Microsoft YaHei"/>
              </a:defRPr>
            </a:pPr>
            <a:r>
              <a:t>查询商品名包含"iPhone"的在售商品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" y="2743200"/>
            <a:ext cx="5029200" cy="64008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0392" y="2788920"/>
            <a:ext cx="484632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E676"/>
                </a:solidFill>
                <a:latin typeface="Consolas"/>
              </a:defRPr>
            </a:pPr>
            <a:r>
              <a:rPr dirty="0"/>
              <a:t>SELECT * FROM goods</a:t>
            </a:r>
            <a:br>
              <a:rPr dirty="0"/>
            </a:br>
            <a:r>
              <a:rPr dirty="0"/>
              <a:t>WHERE name LIKE '%iPhone%'</a:t>
            </a:r>
            <a:br>
              <a:rPr dirty="0"/>
            </a:br>
            <a:r>
              <a:rPr dirty="0"/>
              <a:t>AND status = 'ON_SALE';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5936" y="2468880"/>
            <a:ext cx="5084064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CCCCC"/>
                </a:solidFill>
                <a:latin typeface="Microsoft YaHei"/>
              </a:defRPr>
            </a:pPr>
            <a:r>
              <a:rPr dirty="0" err="1"/>
              <a:t>查询没有填写邮箱的用户，按ID降序</a:t>
            </a:r>
            <a:r>
              <a:rPr lang="zh-CN" altLang="en-US" dirty="0"/>
              <a:t>（生成的数据都填写了）</a:t>
            </a:r>
            <a:endParaRPr dirty="0"/>
          </a:p>
        </p:txBody>
      </p:sp>
      <p:sp>
        <p:nvSpPr>
          <p:cNvPr id="14" name="Rounded Rectangle 13"/>
          <p:cNvSpPr/>
          <p:nvPr/>
        </p:nvSpPr>
        <p:spPr>
          <a:xfrm>
            <a:off x="6345936" y="2743200"/>
            <a:ext cx="5084064" cy="64008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37376" y="2788920"/>
            <a:ext cx="4901183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E676"/>
                </a:solidFill>
                <a:latin typeface="Consolas"/>
              </a:defRPr>
            </a:pPr>
            <a:r>
              <a:rPr dirty="0"/>
              <a:t>SELECT * FROM user</a:t>
            </a:r>
            <a:br>
              <a:rPr dirty="0"/>
            </a:br>
            <a:r>
              <a:rPr dirty="0"/>
              <a:t>WHERE email IS NULL</a:t>
            </a:r>
            <a:br>
              <a:rPr dirty="0"/>
            </a:br>
            <a:r>
              <a:rPr dirty="0"/>
              <a:t>ORDER BY id DESC;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6425" y="1278275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CCCCC"/>
                </a:solidFill>
                <a:latin typeface="Microsoft YaHei"/>
              </a:defRPr>
            </a:pPr>
            <a:r>
              <a:t>查询共有哪些不同的商品状态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6425" y="1552595"/>
            <a:ext cx="5029200" cy="45720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57865" y="1598314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E676"/>
                </a:solidFill>
                <a:latin typeface="Consolas"/>
              </a:defRPr>
            </a:pPr>
            <a:r>
              <a:rPr dirty="0"/>
              <a:t>SELECT DISTINCT status FROM goods;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3657600"/>
            <a:ext cx="50840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CCCCC"/>
                </a:solidFill>
                <a:latin typeface="Microsoft YaHei"/>
              </a:defRPr>
            </a:pPr>
            <a:r>
              <a:t>分组统计每个卖家的商品数量和均价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45936" y="3931920"/>
            <a:ext cx="5084064" cy="137160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37376" y="3977639"/>
            <a:ext cx="490118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2FF"/>
                </a:solidFill>
                <a:latin typeface="Microsoft YaHei"/>
              </a:defRPr>
            </a:pPr>
            <a:r>
              <a:t>GROUP BY + HAVING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7376" y="4206240"/>
            <a:ext cx="490118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E676"/>
                </a:solidFill>
                <a:latin typeface="Consolas"/>
              </a:defRPr>
            </a:pPr>
            <a:r>
              <a:rPr dirty="0"/>
              <a:t>SELECT u.name, COUNT(*) AS </a:t>
            </a:r>
            <a:r>
              <a:rPr dirty="0" err="1"/>
              <a:t>cnt</a:t>
            </a:r>
            <a:r>
              <a:rPr dirty="0"/>
              <a:t>,</a:t>
            </a:r>
            <a:br>
              <a:rPr dirty="0"/>
            </a:br>
            <a:r>
              <a:rPr dirty="0"/>
              <a:t>  ROUND(AVG(</a:t>
            </a:r>
            <a:r>
              <a:rPr dirty="0" err="1"/>
              <a:t>g.price</a:t>
            </a:r>
            <a:r>
              <a:rPr dirty="0"/>
              <a:t>),2) AS </a:t>
            </a:r>
            <a:r>
              <a:rPr dirty="0" err="1"/>
              <a:t>avg_p</a:t>
            </a:r>
            <a:r>
              <a:rPr dirty="0"/>
              <a:t>,</a:t>
            </a:r>
            <a:br>
              <a:rPr dirty="0"/>
            </a:br>
            <a:r>
              <a:rPr dirty="0"/>
              <a:t>  MAX(</a:t>
            </a:r>
            <a:r>
              <a:rPr dirty="0" err="1"/>
              <a:t>g.price</a:t>
            </a:r>
            <a:r>
              <a:rPr dirty="0"/>
              <a:t>) AS </a:t>
            </a:r>
            <a:r>
              <a:rPr dirty="0" err="1"/>
              <a:t>max_p</a:t>
            </a:r>
            <a:br>
              <a:rPr dirty="0"/>
            </a:br>
            <a:r>
              <a:rPr dirty="0"/>
              <a:t>FROM goods g JOIN user u</a:t>
            </a:r>
            <a:br>
              <a:rPr dirty="0"/>
            </a:br>
            <a:r>
              <a:rPr dirty="0"/>
              <a:t>  ON </a:t>
            </a:r>
            <a:r>
              <a:rPr dirty="0" err="1"/>
              <a:t>g.user_id</a:t>
            </a:r>
            <a:r>
              <a:rPr dirty="0"/>
              <a:t> = u.id</a:t>
            </a:r>
            <a:br>
              <a:rPr dirty="0"/>
            </a:br>
            <a:r>
              <a:rPr dirty="0"/>
              <a:t>GROUP BY </a:t>
            </a:r>
            <a:r>
              <a:rPr dirty="0" err="1"/>
              <a:t>g.user_id</a:t>
            </a:r>
            <a:br>
              <a:rPr dirty="0"/>
            </a:br>
            <a:r>
              <a:rPr dirty="0"/>
              <a:t>HAVING COUNT(*) &gt; 5;</a:t>
            </a: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21BE9ABD-33C3-0295-62E5-94456E939E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5417" y="1042587"/>
            <a:ext cx="2560583" cy="1197692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F0A138F4-41AB-E404-5741-F93A7639EC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723" y="3509128"/>
            <a:ext cx="5982359" cy="1059102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EEDEEC92-D4A7-1B35-F450-9948178C15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917" y="6035041"/>
            <a:ext cx="6440075" cy="594361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D45349AF-8D93-8697-205C-8EEC87832C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6988" y="871174"/>
            <a:ext cx="1697357" cy="1131571"/>
          </a:xfrm>
          <a:prstGeom prst="rect">
            <a:avLst/>
          </a:prstGeom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0FFD8E70-9F34-CD1B-4583-C5E5F547CF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7865" y="3429542"/>
            <a:ext cx="4493172" cy="273778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F245BAB6-2FC2-23BC-9E29-F8EA80CBD0A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50953" y="5349238"/>
            <a:ext cx="5178467" cy="128016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8952" y="5029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连接查询</a:t>
            </a:r>
          </a:p>
        </p:txBody>
      </p:sp>
      <p:sp>
        <p:nvSpPr>
          <p:cNvPr id="3" name="Rectangle 2"/>
          <p:cNvSpPr/>
          <p:nvPr/>
        </p:nvSpPr>
        <p:spPr>
          <a:xfrm>
            <a:off x="758952" y="1051560"/>
            <a:ext cx="18288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58952" y="1280160"/>
            <a:ext cx="10671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CCCCC"/>
                </a:solidFill>
                <a:latin typeface="Microsoft YaHei"/>
              </a:defRPr>
            </a:pPr>
            <a:r>
              <a:t>查询所有在售商品及其卖家姓名 (内连接)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" y="1600200"/>
            <a:ext cx="10671048" cy="82296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1645920"/>
            <a:ext cx="1048816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E676"/>
                </a:solidFill>
                <a:latin typeface="Consolas"/>
              </a:defRPr>
            </a:pPr>
            <a:r>
              <a:rPr dirty="0"/>
              <a:t>SELECT g.name AS </a:t>
            </a:r>
            <a:r>
              <a:rPr dirty="0" err="1"/>
              <a:t>goodName</a:t>
            </a:r>
            <a:r>
              <a:rPr dirty="0"/>
              <a:t>, </a:t>
            </a:r>
            <a:r>
              <a:rPr dirty="0" err="1"/>
              <a:t>g.price</a:t>
            </a:r>
            <a:r>
              <a:rPr dirty="0"/>
              <a:t>, </a:t>
            </a:r>
            <a:r>
              <a:rPr dirty="0" err="1"/>
              <a:t>g.content</a:t>
            </a:r>
            <a:r>
              <a:rPr dirty="0"/>
              <a:t>, </a:t>
            </a:r>
            <a:endParaRPr lang="en-US" dirty="0"/>
          </a:p>
          <a:p>
            <a:pPr algn="l">
              <a:defRPr sz="1000" b="0">
                <a:solidFill>
                  <a:srgbClr val="00E676"/>
                </a:solidFill>
                <a:latin typeface="Consolas"/>
              </a:defRPr>
            </a:pPr>
            <a:r>
              <a:rPr dirty="0"/>
              <a:t>u.name AS </a:t>
            </a:r>
            <a:r>
              <a:rPr dirty="0" err="1"/>
              <a:t>sellerName</a:t>
            </a:r>
            <a:br>
              <a:rPr dirty="0"/>
            </a:br>
            <a:r>
              <a:rPr dirty="0"/>
              <a:t>FROM goods g JOIN user u ON </a:t>
            </a:r>
            <a:r>
              <a:rPr dirty="0" err="1"/>
              <a:t>g.user_id</a:t>
            </a:r>
            <a:r>
              <a:rPr dirty="0"/>
              <a:t> = u.id</a:t>
            </a:r>
            <a:br>
              <a:rPr dirty="0"/>
            </a:br>
            <a:r>
              <a:rPr dirty="0"/>
              <a:t>WHERE </a:t>
            </a:r>
            <a:r>
              <a:rPr dirty="0" err="1"/>
              <a:t>g.status</a:t>
            </a:r>
            <a:r>
              <a:rPr dirty="0"/>
              <a:t> = 'ON_SALE';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651760"/>
            <a:ext cx="10671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CCCCC"/>
                </a:solidFill>
                <a:latin typeface="Microsoft YaHei"/>
              </a:defRPr>
            </a:pPr>
            <a:r>
              <a:t>查询某个买家的所有订单及卖家信息 (多表连接)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" y="2971800"/>
            <a:ext cx="10671048" cy="91440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3017520"/>
            <a:ext cx="104881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E676"/>
                </a:solidFill>
                <a:latin typeface="Consolas"/>
              </a:defRPr>
            </a:pPr>
            <a:r>
              <a:rPr dirty="0"/>
              <a:t>SELECT </a:t>
            </a:r>
            <a:r>
              <a:rPr dirty="0" err="1"/>
              <a:t>o.order_no</a:t>
            </a:r>
            <a:r>
              <a:rPr dirty="0"/>
              <a:t>, </a:t>
            </a:r>
            <a:r>
              <a:rPr dirty="0" err="1"/>
              <a:t>o.good_name</a:t>
            </a:r>
            <a:r>
              <a:rPr dirty="0"/>
              <a:t>, </a:t>
            </a:r>
            <a:r>
              <a:rPr dirty="0" err="1"/>
              <a:t>o.total</a:t>
            </a:r>
            <a:r>
              <a:rPr dirty="0"/>
              <a:t>, </a:t>
            </a:r>
            <a:r>
              <a:rPr dirty="0" err="1"/>
              <a:t>o.status</a:t>
            </a:r>
            <a:r>
              <a:rPr dirty="0"/>
              <a:t>,</a:t>
            </a:r>
            <a:br>
              <a:rPr dirty="0"/>
            </a:br>
            <a:r>
              <a:rPr dirty="0"/>
              <a:t>       seller.name AS </a:t>
            </a:r>
            <a:r>
              <a:rPr dirty="0" err="1"/>
              <a:t>sellerName</a:t>
            </a:r>
            <a:br>
              <a:rPr dirty="0"/>
            </a:br>
            <a:r>
              <a:rPr dirty="0"/>
              <a:t>FROM `order` o JOIN user seller ON </a:t>
            </a:r>
            <a:r>
              <a:rPr dirty="0" err="1"/>
              <a:t>o.sale_id</a:t>
            </a:r>
            <a:r>
              <a:rPr dirty="0"/>
              <a:t> = seller.id</a:t>
            </a:r>
            <a:br>
              <a:rPr dirty="0"/>
            </a:br>
            <a:r>
              <a:rPr dirty="0"/>
              <a:t>WHERE </a:t>
            </a:r>
            <a:r>
              <a:rPr dirty="0" err="1"/>
              <a:t>o.user_id</a:t>
            </a:r>
            <a:r>
              <a:rPr dirty="0"/>
              <a:t> = :</a:t>
            </a:r>
            <a:r>
              <a:rPr dirty="0" err="1"/>
              <a:t>userId</a:t>
            </a:r>
            <a:r>
              <a:rPr dirty="0"/>
              <a:t>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4114800"/>
            <a:ext cx="10671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CCCCC"/>
                </a:solidFill>
                <a:latin typeface="Microsoft YaHei"/>
              </a:defRPr>
            </a:pPr>
            <a:r>
              <a:t>查询某个商品下的所有评论及评论人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" y="4434840"/>
            <a:ext cx="10671048" cy="82296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0392" y="4480559"/>
            <a:ext cx="10488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E676"/>
                </a:solidFill>
                <a:latin typeface="Consolas"/>
              </a:defRPr>
            </a:pPr>
            <a:r>
              <a:rPr dirty="0"/>
              <a:t>SELECT </a:t>
            </a:r>
            <a:r>
              <a:rPr dirty="0" err="1"/>
              <a:t>c.content</a:t>
            </a:r>
            <a:r>
              <a:rPr dirty="0"/>
              <a:t>, </a:t>
            </a:r>
            <a:r>
              <a:rPr dirty="0" err="1"/>
              <a:t>c.time</a:t>
            </a:r>
            <a:r>
              <a:rPr dirty="0"/>
              <a:t>, u.name AS commentator</a:t>
            </a:r>
            <a:br>
              <a:rPr dirty="0"/>
            </a:br>
            <a:r>
              <a:rPr dirty="0"/>
              <a:t>FROM comment c JOIN user u ON </a:t>
            </a:r>
            <a:r>
              <a:rPr dirty="0" err="1"/>
              <a:t>c.user_id</a:t>
            </a:r>
            <a:r>
              <a:rPr dirty="0"/>
              <a:t> = u.id</a:t>
            </a:r>
            <a:br>
              <a:rPr dirty="0"/>
            </a:br>
            <a:r>
              <a:rPr dirty="0"/>
              <a:t>WHERE </a:t>
            </a:r>
            <a:r>
              <a:rPr dirty="0" err="1"/>
              <a:t>c.fid</a:t>
            </a:r>
            <a:r>
              <a:rPr dirty="0"/>
              <a:t> = :</a:t>
            </a:r>
            <a:r>
              <a:rPr dirty="0" err="1"/>
              <a:t>goodsId</a:t>
            </a:r>
            <a:r>
              <a:rPr dirty="0"/>
              <a:t>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" y="5486400"/>
            <a:ext cx="10671048" cy="640080"/>
          </a:xfrm>
          <a:prstGeom prst="round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5596128"/>
            <a:ext cx="103967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D700"/>
                </a:solidFill>
                <a:latin typeface="Microsoft YaHei"/>
              </a:defRPr>
            </a:pPr>
            <a:r>
              <a:t>以上三条查询已封装为 Spring Boot JPA Repository 方法，通过 RESTful API 对外提供服务。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5943600"/>
            <a:ext cx="10396728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542CC772-F191-E432-095B-EC6E1B9D3E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9337" y="1356603"/>
            <a:ext cx="6353503" cy="1061558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F891D0E7-2F49-D3D3-D00D-2C70654760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0344" y="4577529"/>
            <a:ext cx="4592495" cy="537582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86B3E5CB-BD21-06D3-2ECC-BED1B5339E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4837" y="4485135"/>
            <a:ext cx="2365507" cy="704086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C82E86DF-7A8C-712E-B0E4-CCEEF1AAE5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2552" y="3386938"/>
            <a:ext cx="6096008" cy="367632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DC6A8344-44E3-C847-5B01-73819064B4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36964" y="2624157"/>
            <a:ext cx="2399809" cy="71429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8952" y="5029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连接查询 | 完整订单明细报表</a:t>
            </a:r>
          </a:p>
        </p:txBody>
      </p:sp>
      <p:sp>
        <p:nvSpPr>
          <p:cNvPr id="3" name="Rectangle 2"/>
          <p:cNvSpPr/>
          <p:nvPr/>
        </p:nvSpPr>
        <p:spPr>
          <a:xfrm>
            <a:off x="758952" y="1051560"/>
            <a:ext cx="18288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58952" y="1280160"/>
            <a:ext cx="10671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Microsoft YaHei"/>
              </a:defRPr>
            </a:pPr>
            <a:r>
              <a:t>联查订单表、买家、卖家，获取完整订单明细报表 (三表联查)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" y="1645920"/>
            <a:ext cx="10671048" cy="228600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1691640"/>
            <a:ext cx="104881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2FF"/>
                </a:solidFill>
                <a:latin typeface="Microsoft YaHei"/>
              </a:defRPr>
            </a:pPr>
            <a:r>
              <a:t>完整订单报表 — 同表多次JOIN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920240"/>
            <a:ext cx="1048816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E676"/>
                </a:solidFill>
                <a:latin typeface="Consolas"/>
              </a:defRPr>
            </a:pPr>
            <a:r>
              <a:rPr dirty="0"/>
              <a:t>SELECT</a:t>
            </a:r>
            <a:br>
              <a:rPr dirty="0"/>
            </a:br>
            <a:r>
              <a:rPr dirty="0"/>
              <a:t>    </a:t>
            </a:r>
            <a:r>
              <a:rPr dirty="0" err="1"/>
              <a:t>o.order_no</a:t>
            </a:r>
            <a:r>
              <a:rPr dirty="0"/>
              <a:t>       AS '</a:t>
            </a:r>
            <a:r>
              <a:rPr dirty="0" err="1"/>
              <a:t>订单号</a:t>
            </a:r>
            <a:r>
              <a:rPr dirty="0"/>
              <a:t>',</a:t>
            </a:r>
            <a:br>
              <a:rPr dirty="0"/>
            </a:br>
            <a:r>
              <a:rPr dirty="0"/>
              <a:t>    </a:t>
            </a:r>
            <a:r>
              <a:rPr dirty="0" err="1"/>
              <a:t>o.good_name</a:t>
            </a:r>
            <a:r>
              <a:rPr dirty="0"/>
              <a:t>      AS '</a:t>
            </a:r>
            <a:r>
              <a:rPr dirty="0" err="1"/>
              <a:t>商品名称</a:t>
            </a:r>
            <a:r>
              <a:rPr dirty="0"/>
              <a:t>',</a:t>
            </a:r>
            <a:br>
              <a:rPr dirty="0"/>
            </a:br>
            <a:r>
              <a:rPr dirty="0"/>
              <a:t>    </a:t>
            </a:r>
            <a:r>
              <a:rPr dirty="0" err="1"/>
              <a:t>o.total</a:t>
            </a:r>
            <a:r>
              <a:rPr dirty="0"/>
              <a:t>          AS '</a:t>
            </a:r>
            <a:r>
              <a:rPr dirty="0" err="1"/>
              <a:t>成交金额</a:t>
            </a:r>
            <a:r>
              <a:rPr dirty="0"/>
              <a:t>',</a:t>
            </a:r>
            <a:br>
              <a:rPr dirty="0"/>
            </a:br>
            <a:r>
              <a:rPr dirty="0"/>
              <a:t>    </a:t>
            </a:r>
            <a:r>
              <a:rPr dirty="0" err="1"/>
              <a:t>o.status</a:t>
            </a:r>
            <a:r>
              <a:rPr dirty="0"/>
              <a:t>         AS '</a:t>
            </a:r>
            <a:r>
              <a:rPr dirty="0" err="1"/>
              <a:t>订单状态</a:t>
            </a:r>
            <a:r>
              <a:rPr dirty="0"/>
              <a:t>',</a:t>
            </a:r>
            <a:br>
              <a:rPr dirty="0"/>
            </a:br>
            <a:r>
              <a:rPr dirty="0"/>
              <a:t>    buyer.name       AS '</a:t>
            </a:r>
            <a:r>
              <a:rPr dirty="0" err="1"/>
              <a:t>买家姓名</a:t>
            </a:r>
            <a:r>
              <a:rPr dirty="0"/>
              <a:t>',</a:t>
            </a:r>
            <a:br>
              <a:rPr dirty="0"/>
            </a:br>
            <a:r>
              <a:rPr dirty="0"/>
              <a:t>    </a:t>
            </a:r>
            <a:r>
              <a:rPr dirty="0" err="1"/>
              <a:t>buyer.phone</a:t>
            </a:r>
            <a:r>
              <a:rPr dirty="0"/>
              <a:t>      AS '</a:t>
            </a:r>
            <a:r>
              <a:rPr dirty="0" err="1"/>
              <a:t>买家电话</a:t>
            </a:r>
            <a:r>
              <a:rPr dirty="0"/>
              <a:t>',</a:t>
            </a:r>
            <a:br>
              <a:rPr dirty="0"/>
            </a:br>
            <a:r>
              <a:rPr dirty="0"/>
              <a:t>    seller.name      AS '</a:t>
            </a:r>
            <a:r>
              <a:rPr dirty="0" err="1"/>
              <a:t>卖家姓名</a:t>
            </a:r>
            <a:r>
              <a:rPr dirty="0"/>
              <a:t>',</a:t>
            </a:r>
            <a:br>
              <a:rPr dirty="0"/>
            </a:br>
            <a:r>
              <a:rPr dirty="0"/>
              <a:t>    </a:t>
            </a:r>
            <a:r>
              <a:rPr dirty="0" err="1"/>
              <a:t>seller.phone</a:t>
            </a:r>
            <a:r>
              <a:rPr dirty="0"/>
              <a:t>     AS '</a:t>
            </a:r>
            <a:r>
              <a:rPr dirty="0" err="1"/>
              <a:t>卖家电话</a:t>
            </a:r>
            <a:r>
              <a:rPr dirty="0"/>
              <a:t>'</a:t>
            </a:r>
            <a:br>
              <a:rPr dirty="0"/>
            </a:br>
            <a:r>
              <a:rPr dirty="0"/>
              <a:t>FROM `order` o</a:t>
            </a:r>
            <a:br>
              <a:rPr dirty="0"/>
            </a:br>
            <a:r>
              <a:rPr dirty="0"/>
              <a:t>JOIN user buyer  ON </a:t>
            </a:r>
            <a:r>
              <a:rPr dirty="0" err="1"/>
              <a:t>o.user_id</a:t>
            </a:r>
            <a:r>
              <a:rPr dirty="0"/>
              <a:t> = buyer.id</a:t>
            </a:r>
            <a:br>
              <a:rPr dirty="0"/>
            </a:br>
            <a:r>
              <a:rPr dirty="0"/>
              <a:t>JOIN user seller ON </a:t>
            </a:r>
            <a:r>
              <a:rPr dirty="0" err="1"/>
              <a:t>o.sale_id</a:t>
            </a:r>
            <a:r>
              <a:rPr dirty="0"/>
              <a:t> = seller.id</a:t>
            </a:r>
            <a:br>
              <a:rPr dirty="0"/>
            </a:br>
            <a:r>
              <a:rPr dirty="0"/>
              <a:t>ORDER BY o.id DESC;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" y="4206240"/>
            <a:ext cx="10671048" cy="1463040"/>
          </a:xfrm>
          <a:prstGeom prst="round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4315968"/>
            <a:ext cx="103967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76"/>
                </a:solidFill>
                <a:latin typeface="Microsoft YaHei"/>
              </a:defRPr>
            </a:pPr>
            <a:r>
              <a:t>查询分析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4663440"/>
            <a:ext cx="1039672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  <a:latin typeface="Microsoft YaHei"/>
              </a:defRPr>
            </a:pPr>
            <a:r>
              <a:t>● Order 表通过 user_id 和 sale_id 两个外键分别关联 User 表，获取买卖双方完整信息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  <a:latin typeface="Microsoft YaHei"/>
              </a:defRPr>
            </a:pPr>
            <a:r>
              <a:t>● 同一张 User 表被 JOIN 两次，分别命名为 buyer 和 seller，实现"一表多用"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  <a:latin typeface="Microsoft YaHei"/>
              </a:defRPr>
            </a:pPr>
            <a:r>
              <a:t>● 一次查询即可生成包含交易双方信息的完整报表，用于客服、对账和运营分析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2221E0B1-3448-DB90-99F0-55ABDE689D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5200" y="2011680"/>
            <a:ext cx="7443699" cy="131232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8952" y="5029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嵌套查询</a:t>
            </a:r>
          </a:p>
        </p:txBody>
      </p:sp>
      <p:sp>
        <p:nvSpPr>
          <p:cNvPr id="3" name="Rectangle 2"/>
          <p:cNvSpPr/>
          <p:nvPr/>
        </p:nvSpPr>
        <p:spPr>
          <a:xfrm>
            <a:off x="758952" y="1051560"/>
            <a:ext cx="18288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58952" y="12801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CCCCC"/>
                </a:solidFill>
                <a:latin typeface="Microsoft YaHei"/>
              </a:defRPr>
            </a:pPr>
            <a:r>
              <a:t>查询下过订单的买家信息 (IN)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" y="1600200"/>
            <a:ext cx="5029200" cy="91440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164592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E676"/>
                </a:solidFill>
                <a:latin typeface="Consolas"/>
              </a:defRPr>
            </a:pPr>
            <a:r>
              <a:rPr dirty="0"/>
              <a:t>SELECT * FROM user</a:t>
            </a:r>
            <a:br>
              <a:rPr dirty="0"/>
            </a:br>
            <a:r>
              <a:rPr dirty="0"/>
              <a:t>WHERE id IN (</a:t>
            </a:r>
            <a:br>
              <a:rPr dirty="0"/>
            </a:br>
            <a:r>
              <a:rPr dirty="0"/>
              <a:t>  SELECT DISTINCT </a:t>
            </a:r>
            <a:r>
              <a:rPr dirty="0" err="1"/>
              <a:t>user_id</a:t>
            </a:r>
            <a:br>
              <a:rPr dirty="0"/>
            </a:br>
            <a:r>
              <a:rPr dirty="0"/>
              <a:t>  FROM `order`</a:t>
            </a:r>
            <a:br>
              <a:rPr dirty="0"/>
            </a:br>
            <a:r>
              <a:rPr dirty="0"/>
              <a:t>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45936" y="1280160"/>
            <a:ext cx="50840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CCCCC"/>
                </a:solidFill>
                <a:latin typeface="Microsoft YaHei"/>
              </a:defRPr>
            </a:pPr>
            <a:r>
              <a:t>查询价格高于所有已售商品的在售品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45936" y="1600199"/>
            <a:ext cx="5084064" cy="1164021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37376" y="1645920"/>
            <a:ext cx="4901183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E676"/>
                </a:solidFill>
                <a:latin typeface="Consolas"/>
              </a:defRPr>
            </a:pPr>
            <a:r>
              <a:rPr dirty="0"/>
              <a:t>SELECT name, price FROM goods</a:t>
            </a:r>
            <a:br>
              <a:rPr dirty="0"/>
            </a:br>
            <a:r>
              <a:rPr dirty="0"/>
              <a:t>WHERE status='ON_SALE'</a:t>
            </a:r>
            <a:br>
              <a:rPr dirty="0"/>
            </a:br>
            <a:r>
              <a:rPr dirty="0"/>
              <a:t>AND price &gt; ALL (</a:t>
            </a:r>
            <a:br>
              <a:rPr dirty="0"/>
            </a:br>
            <a:r>
              <a:rPr dirty="0"/>
              <a:t>  SELECT price FROM goods</a:t>
            </a:r>
            <a:br>
              <a:rPr dirty="0"/>
            </a:br>
            <a:r>
              <a:rPr dirty="0"/>
              <a:t>  WHERE status='SOLD'</a:t>
            </a:r>
            <a:br>
              <a:rPr dirty="0"/>
            </a:br>
            <a:r>
              <a:rPr dirty="0"/>
              <a:t>);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6865" y="3977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CCCCC"/>
                </a:solidFill>
                <a:latin typeface="Microsoft YaHei"/>
              </a:defRPr>
            </a:pPr>
            <a:r>
              <a:t>查询未发布过商品的用户 (NOT EXISTS)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6865" y="4297680"/>
            <a:ext cx="5029200" cy="1214996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08305" y="434340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E676"/>
                </a:solidFill>
                <a:latin typeface="Consolas"/>
              </a:defRPr>
            </a:pPr>
            <a:r>
              <a:rPr dirty="0"/>
              <a:t>SELECT username, phone</a:t>
            </a:r>
            <a:br>
              <a:rPr dirty="0"/>
            </a:br>
            <a:r>
              <a:rPr dirty="0"/>
              <a:t>FROM user u</a:t>
            </a:r>
            <a:br>
              <a:rPr dirty="0"/>
            </a:br>
            <a:r>
              <a:rPr dirty="0"/>
              <a:t>WHERE NOT EXISTS (</a:t>
            </a:r>
            <a:br>
              <a:rPr dirty="0"/>
            </a:br>
            <a:r>
              <a:rPr dirty="0"/>
              <a:t>  SELECT 1 FROM goods g</a:t>
            </a:r>
            <a:br>
              <a:rPr dirty="0"/>
            </a:br>
            <a:r>
              <a:rPr dirty="0"/>
              <a:t>  WHERE </a:t>
            </a:r>
            <a:r>
              <a:rPr dirty="0" err="1"/>
              <a:t>g.user_id</a:t>
            </a:r>
            <a:r>
              <a:rPr dirty="0"/>
              <a:t> = u.id</a:t>
            </a:r>
            <a:br>
              <a:rPr dirty="0"/>
            </a:br>
            <a:r>
              <a:rPr dirty="0"/>
              <a:t>);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5936" y="3977640"/>
            <a:ext cx="5084064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CCCCC"/>
                </a:solidFill>
                <a:latin typeface="Microsoft YaHei"/>
              </a:defRPr>
            </a:pPr>
            <a:r>
              <a:rPr dirty="0" err="1"/>
              <a:t>有评论但没有下过单的活跃用户</a:t>
            </a:r>
            <a:r>
              <a:rPr lang="en-US" dirty="0"/>
              <a:t>(</a:t>
            </a:r>
            <a:r>
              <a:rPr lang="zh-CN" altLang="en-US" dirty="0"/>
              <a:t>生成的数据没这样的用户）</a:t>
            </a:r>
            <a:endParaRPr dirty="0"/>
          </a:p>
        </p:txBody>
      </p:sp>
      <p:sp>
        <p:nvSpPr>
          <p:cNvPr id="14" name="Rounded Rectangle 13"/>
          <p:cNvSpPr/>
          <p:nvPr/>
        </p:nvSpPr>
        <p:spPr>
          <a:xfrm>
            <a:off x="6345936" y="4297680"/>
            <a:ext cx="5084064" cy="1471974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37376" y="4343400"/>
            <a:ext cx="4901183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E676"/>
                </a:solidFill>
                <a:latin typeface="Consolas"/>
              </a:defRPr>
            </a:pPr>
            <a:r>
              <a:rPr dirty="0"/>
              <a:t>SELECT * FROM user</a:t>
            </a:r>
            <a:br>
              <a:rPr dirty="0"/>
            </a:br>
            <a:r>
              <a:rPr dirty="0"/>
              <a:t>WHERE id IN (</a:t>
            </a:r>
            <a:br>
              <a:rPr dirty="0"/>
            </a:br>
            <a:r>
              <a:rPr dirty="0"/>
              <a:t>  SELECT DISTINCT </a:t>
            </a:r>
            <a:r>
              <a:rPr dirty="0" err="1"/>
              <a:t>user_id</a:t>
            </a:r>
            <a:br>
              <a:rPr dirty="0"/>
            </a:br>
            <a:r>
              <a:rPr dirty="0"/>
              <a:t>  FROM comment</a:t>
            </a:r>
            <a:br>
              <a:rPr dirty="0"/>
            </a:br>
            <a:r>
              <a:rPr dirty="0"/>
              <a:t>) AND id NOT IN (</a:t>
            </a:r>
            <a:br>
              <a:rPr dirty="0"/>
            </a:br>
            <a:r>
              <a:rPr dirty="0"/>
              <a:t>  SELECT DISTINCT </a:t>
            </a:r>
            <a:r>
              <a:rPr dirty="0" err="1"/>
              <a:t>user_id</a:t>
            </a:r>
            <a:br>
              <a:rPr dirty="0"/>
            </a:br>
            <a:r>
              <a:rPr dirty="0"/>
              <a:t>  FROM `order`</a:t>
            </a:r>
            <a:br>
              <a:rPr dirty="0"/>
            </a:br>
            <a:r>
              <a:rPr dirty="0"/>
              <a:t>);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556D373C-0FBF-517F-3904-35E538B503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372" y="2764220"/>
            <a:ext cx="5654566" cy="1092863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8EB6F00F-7C6F-C75E-E364-88D7F3B57C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76" y="2808375"/>
            <a:ext cx="4200525" cy="1123545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2DF17F4D-9A25-EA14-9C82-B47121B4B6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865" y="5431009"/>
            <a:ext cx="4575048" cy="1434339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DA75B4E4-CEB7-C5DD-F84C-0817D0B8CB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7376" y="5989255"/>
            <a:ext cx="5438205" cy="60945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8952" y="5029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集合查询 与 派生表查询</a:t>
            </a:r>
          </a:p>
        </p:txBody>
      </p:sp>
      <p:sp>
        <p:nvSpPr>
          <p:cNvPr id="3" name="Rectangle 2"/>
          <p:cNvSpPr/>
          <p:nvPr/>
        </p:nvSpPr>
        <p:spPr>
          <a:xfrm>
            <a:off x="758952" y="1051560"/>
            <a:ext cx="18288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58952" y="1280160"/>
            <a:ext cx="10671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CCCCC"/>
                </a:solidFill>
                <a:latin typeface="Microsoft YaHei"/>
              </a:defRPr>
            </a:pPr>
            <a:r>
              <a:t>集合查询：将买家和卖家联系方式合并，方便群发通知 (UNION)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" y="1600200"/>
            <a:ext cx="10671048" cy="109728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1645920"/>
            <a:ext cx="104881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2FF"/>
                </a:solidFill>
                <a:latin typeface="Microsoft YaHei"/>
              </a:defRPr>
            </a:pPr>
            <a:r>
              <a:t>UNION 集合查询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874519"/>
            <a:ext cx="10488168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E676"/>
                </a:solidFill>
                <a:latin typeface="Consolas"/>
              </a:defRPr>
            </a:pPr>
            <a:r>
              <a:rPr dirty="0"/>
              <a:t>SELECT name AS </a:t>
            </a:r>
            <a:r>
              <a:rPr dirty="0" err="1"/>
              <a:t>contact_name</a:t>
            </a:r>
            <a:r>
              <a:rPr dirty="0"/>
              <a:t>, phone FROM user</a:t>
            </a:r>
            <a:br>
              <a:rPr dirty="0"/>
            </a:br>
            <a:r>
              <a:rPr dirty="0"/>
              <a:t>WHERE id IN (SELECT DISTINCT </a:t>
            </a:r>
            <a:r>
              <a:rPr dirty="0" err="1"/>
              <a:t>user_id</a:t>
            </a:r>
            <a:r>
              <a:rPr dirty="0"/>
              <a:t> FROM `order`)</a:t>
            </a:r>
            <a:br>
              <a:rPr dirty="0"/>
            </a:br>
            <a:r>
              <a:rPr dirty="0"/>
              <a:t>UNION</a:t>
            </a:r>
            <a:br>
              <a:rPr dirty="0"/>
            </a:br>
            <a:r>
              <a:rPr dirty="0"/>
              <a:t>SELECT name AS </a:t>
            </a:r>
            <a:r>
              <a:rPr dirty="0" err="1"/>
              <a:t>contact_name</a:t>
            </a:r>
            <a:r>
              <a:rPr dirty="0"/>
              <a:t>, phone FROM user</a:t>
            </a:r>
            <a:br>
              <a:rPr dirty="0"/>
            </a:br>
            <a:r>
              <a:rPr dirty="0"/>
              <a:t>WHERE id IN (SELECT DISTINCT </a:t>
            </a:r>
            <a:r>
              <a:rPr dirty="0" err="1"/>
              <a:t>sale_id</a:t>
            </a:r>
            <a:r>
              <a:rPr dirty="0"/>
              <a:t> FROM `order`);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926080"/>
            <a:ext cx="10671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Microsoft YaHei"/>
              </a:defRPr>
            </a:pPr>
            <a:r>
              <a:t>基于派生表查询：谁是累计消费超过1000元的 VIP 用户？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" y="3246120"/>
            <a:ext cx="5943600" cy="201168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0392" y="3291839"/>
            <a:ext cx="5760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2FF"/>
                </a:solidFill>
                <a:latin typeface="Microsoft YaHei"/>
              </a:defRPr>
            </a:pPr>
            <a:r>
              <a:t>派生表 (Derived Table)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3520439"/>
            <a:ext cx="5760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E676"/>
                </a:solidFill>
                <a:latin typeface="Consolas"/>
              </a:defRPr>
            </a:pPr>
            <a:r>
              <a:rPr dirty="0"/>
              <a:t>SELECT </a:t>
            </a:r>
            <a:r>
              <a:rPr dirty="0" err="1"/>
              <a:t>u.username</a:t>
            </a:r>
            <a:r>
              <a:rPr dirty="0"/>
              <a:t>, u.name,</a:t>
            </a:r>
            <a:br>
              <a:rPr dirty="0"/>
            </a:br>
            <a:r>
              <a:rPr dirty="0"/>
              <a:t>       </a:t>
            </a:r>
            <a:r>
              <a:rPr dirty="0" err="1"/>
              <a:t>stats.total_spend</a:t>
            </a:r>
            <a:br>
              <a:rPr dirty="0"/>
            </a:br>
            <a:r>
              <a:rPr dirty="0"/>
              <a:t>FROM user u</a:t>
            </a:r>
            <a:br>
              <a:rPr dirty="0"/>
            </a:br>
            <a:r>
              <a:rPr dirty="0"/>
              <a:t>JOIN (</a:t>
            </a:r>
            <a:br>
              <a:rPr dirty="0"/>
            </a:br>
            <a:r>
              <a:rPr dirty="0"/>
              <a:t>  SELECT </a:t>
            </a:r>
            <a:r>
              <a:rPr dirty="0" err="1"/>
              <a:t>user_id</a:t>
            </a:r>
            <a:r>
              <a:rPr dirty="0"/>
              <a:t>,</a:t>
            </a:r>
            <a:br>
              <a:rPr dirty="0"/>
            </a:br>
            <a:r>
              <a:rPr dirty="0"/>
              <a:t>    SUM(total) AS </a:t>
            </a:r>
            <a:r>
              <a:rPr dirty="0" err="1"/>
              <a:t>total_spend</a:t>
            </a:r>
            <a:br>
              <a:rPr dirty="0"/>
            </a:br>
            <a:r>
              <a:rPr dirty="0"/>
              <a:t>  FROM `order`</a:t>
            </a:r>
            <a:br>
              <a:rPr dirty="0"/>
            </a:br>
            <a:r>
              <a:rPr dirty="0"/>
              <a:t>  GROUP BY </a:t>
            </a:r>
            <a:r>
              <a:rPr dirty="0" err="1"/>
              <a:t>user_id</a:t>
            </a:r>
            <a:br>
              <a:rPr dirty="0"/>
            </a:br>
            <a:r>
              <a:rPr dirty="0"/>
              <a:t>) AS stats</a:t>
            </a:r>
            <a:br>
              <a:rPr dirty="0"/>
            </a:br>
            <a:r>
              <a:rPr dirty="0"/>
              <a:t>ON u.id = </a:t>
            </a:r>
            <a:r>
              <a:rPr dirty="0" err="1"/>
              <a:t>stats.user_id</a:t>
            </a:r>
            <a:br>
              <a:rPr dirty="0"/>
            </a:br>
            <a:r>
              <a:rPr dirty="0"/>
              <a:t>WHERE </a:t>
            </a:r>
            <a:r>
              <a:rPr dirty="0" err="1"/>
              <a:t>stats.total_spend</a:t>
            </a:r>
            <a:r>
              <a:rPr dirty="0"/>
              <a:t> &gt; 1000;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40880" y="3246120"/>
            <a:ext cx="4389120" cy="2011680"/>
          </a:xfrm>
          <a:prstGeom prst="round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78040" y="335584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76"/>
                </a:solidFill>
                <a:latin typeface="Microsoft YaHei"/>
              </a:defRPr>
            </a:pPr>
            <a:r>
              <a:t>分析逻辑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3703320"/>
            <a:ext cx="4114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  <a:latin typeface="Microsoft YaHei"/>
              </a:defRPr>
            </a:pPr>
            <a:r>
              <a:t>通过子查询(派生表)计算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  <a:latin typeface="Microsoft YaHei"/>
              </a:defRPr>
            </a:pPr>
            <a:r>
              <a:t>每个用户的总消费金额，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  <a:latin typeface="Microsoft YaHei"/>
              </a:defRPr>
            </a:pPr>
            <a:endParaRPr/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  <a:latin typeface="Microsoft YaHei"/>
              </a:defRPr>
            </a:pPr>
            <a:r>
              <a:t>在外层查询中筛选出总消费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  <a:latin typeface="Microsoft YaHei"/>
              </a:defRPr>
            </a:pPr>
            <a:r>
              <a:t>超过1000元的VIP用户。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  <a:latin typeface="Microsoft YaHei"/>
              </a:defRPr>
            </a:pPr>
            <a:endParaRPr/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  <a:latin typeface="Microsoft YaHei"/>
              </a:defRPr>
            </a:pPr>
            <a:r>
              <a:t>用于精准营销和用户画像。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557016" y="1828800"/>
            <a:ext cx="50840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D2FF"/>
                </a:solidFill>
                <a:latin typeface="Microsoft YaHei"/>
              </a:defRPr>
            </a:pPr>
            <a:r>
              <a:rPr dirty="0"/>
              <a:t>CHAPTER 0</a:t>
            </a:r>
            <a:r>
              <a:rPr lang="en-US" dirty="0"/>
              <a:t>3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2743200" y="2286000"/>
            <a:ext cx="6702552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系统扩展方向</a:t>
            </a:r>
          </a:p>
        </p:txBody>
      </p:sp>
      <p:sp>
        <p:nvSpPr>
          <p:cNvPr id="5" name="Rectangle 4"/>
          <p:cNvSpPr/>
          <p:nvPr/>
        </p:nvSpPr>
        <p:spPr>
          <a:xfrm>
            <a:off x="5458968" y="3200400"/>
            <a:ext cx="1271016" cy="18288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88952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8952" y="5029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下一步架构：系统推进与扩展方向</a:t>
            </a:r>
          </a:p>
        </p:txBody>
      </p:sp>
      <p:sp>
        <p:nvSpPr>
          <p:cNvPr id="3" name="Rectangle 2"/>
          <p:cNvSpPr/>
          <p:nvPr/>
        </p:nvSpPr>
        <p:spPr>
          <a:xfrm>
            <a:off x="758952" y="1051560"/>
            <a:ext cx="18288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58952" y="1371600"/>
            <a:ext cx="3300984" cy="2011680"/>
          </a:xfrm>
          <a:prstGeom prst="round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6112" y="1481328"/>
            <a:ext cx="30266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Microsoft YaHei"/>
              </a:defRPr>
            </a:pPr>
            <a:r>
              <a:t>当前架构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828800"/>
            <a:ext cx="302666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  <a:latin typeface="Microsoft YaHei"/>
              </a:defRPr>
            </a:pPr>
            <a:r>
              <a:t>核心关系型数据库(MySQL)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  <a:latin typeface="Microsoft YaHei"/>
              </a:defRPr>
            </a:pPr>
            <a:r>
              <a:t>6张业务表 + 外键约束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  <a:latin typeface="Microsoft YaHei"/>
              </a:defRPr>
            </a:pPr>
            <a:r>
              <a:t>存储过程批量数据生成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  <a:latin typeface="Microsoft YaHei"/>
              </a:defRPr>
            </a:pPr>
            <a:r>
              <a:t>多类型SQL查询覆盖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43984" y="1371600"/>
            <a:ext cx="3300984" cy="2011680"/>
          </a:xfrm>
          <a:prstGeom prst="round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81144" y="1481328"/>
            <a:ext cx="30266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76"/>
                </a:solidFill>
                <a:latin typeface="Microsoft YaHei"/>
              </a:defRPr>
            </a:pPr>
            <a:r>
              <a:t>业务逻辑后端化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81144" y="1828800"/>
            <a:ext cx="302666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  <a:latin typeface="Microsoft YaHei"/>
              </a:defRPr>
            </a:pPr>
            <a:r>
              <a:t>Java Spring Boot 封装SQL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  <a:latin typeface="Microsoft YaHei"/>
              </a:defRPr>
            </a:pPr>
            <a:r>
              <a:t>为 RESTful API 接口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  <a:latin typeface="Microsoft YaHei"/>
              </a:defRPr>
            </a:pPr>
            <a:r>
              <a:t>Go Gin 高并发分页查询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  <a:latin typeface="Microsoft YaHei"/>
              </a:defRPr>
            </a:pPr>
            <a:r>
              <a:t>图片上传与订单管理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29016" y="1371600"/>
            <a:ext cx="3300984" cy="2011680"/>
          </a:xfrm>
          <a:prstGeom prst="round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66176" y="1481328"/>
            <a:ext cx="30266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D700"/>
                </a:solidFill>
                <a:latin typeface="Microsoft YaHei"/>
              </a:defRPr>
            </a:pPr>
            <a:r>
              <a:t>操作界面可视化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66176" y="1828800"/>
            <a:ext cx="302666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  <a:latin typeface="Microsoft YaHei"/>
              </a:defRPr>
            </a:pPr>
            <a:r>
              <a:t>Vue 3 + TypeScript 前端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  <a:latin typeface="Microsoft YaHei"/>
              </a:defRPr>
            </a:pPr>
            <a:r>
              <a:t>商品瀑布流/求购区/比价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  <a:latin typeface="Microsoft YaHei"/>
              </a:defRPr>
            </a:pPr>
            <a:r>
              <a:t>订单管理/收藏夹等用户中心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  <a:latin typeface="Microsoft YaHei"/>
              </a:defRPr>
            </a:pPr>
            <a:r>
              <a:t>后台数据仪表盘可视化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" y="3749039"/>
            <a:ext cx="5084064" cy="2011680"/>
          </a:xfrm>
          <a:prstGeom prst="round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3858768"/>
            <a:ext cx="4809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B2FFF"/>
                </a:solidFill>
                <a:latin typeface="Microsoft YaHei"/>
              </a:defRPr>
            </a:pPr>
            <a:r>
              <a:t>智能化升级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4206240"/>
            <a:ext cx="480974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  <a:latin typeface="Microsoft YaHei"/>
              </a:defRPr>
            </a:pPr>
            <a:r>
              <a:t>接入大语言模型打造 AI 校园交易助手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  <a:latin typeface="Microsoft YaHei"/>
              </a:defRPr>
            </a:pPr>
            <a:r>
              <a:t>全天候解答商品信息与交易规则疑问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  <a:latin typeface="Microsoft YaHei"/>
              </a:defRPr>
            </a:pPr>
            <a:r>
              <a:t>根据对话意图自动推荐商品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  <a:latin typeface="Microsoft YaHei"/>
              </a:defRPr>
            </a:pPr>
            <a:r>
              <a:t>智能内容审核 · 价格预测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45936" y="3749039"/>
            <a:ext cx="5084064" cy="2011680"/>
          </a:xfrm>
          <a:prstGeom prst="roundRect">
            <a:avLst/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83096" y="3858768"/>
            <a:ext cx="4809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Microsoft YaHei"/>
              </a:defRPr>
            </a:pPr>
            <a:r>
              <a:t>完善数据库与基础设施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3096" y="4206240"/>
            <a:ext cx="480974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  <a:latin typeface="Microsoft YaHei"/>
              </a:defRPr>
            </a:pPr>
            <a:r>
              <a:t>用户认证(JWT) 与 权限管理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  <a:latin typeface="Microsoft YaHei"/>
              </a:defRPr>
            </a:pPr>
            <a:r>
              <a:t>支付系统对接 · 消息通知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  <a:latin typeface="Microsoft YaHei"/>
              </a:defRPr>
            </a:pPr>
            <a:r>
              <a:t>搜索引擎(ES) · 缓存层(Redis)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  <a:latin typeface="Microsoft YaHei"/>
              </a:defRPr>
            </a:pPr>
            <a:r>
              <a:t>移动端适配 · 微服务拆分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271016" y="-1271016"/>
            <a:ext cx="5084064" cy="5084064"/>
          </a:xfrm>
          <a:prstGeom prst="ellipse">
            <a:avLst/>
          </a:prstGeom>
          <a:solidFill>
            <a:srgbClr val="20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656064" y="4315968"/>
            <a:ext cx="3813048" cy="3813048"/>
          </a:xfrm>
          <a:prstGeom prst="ellipse">
            <a:avLst/>
          </a:prstGeom>
          <a:solidFill>
            <a:srgbClr val="20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0" y="2011680"/>
            <a:ext cx="4873752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谢谢观看</a:t>
            </a:r>
          </a:p>
        </p:txBody>
      </p:sp>
      <p:sp>
        <p:nvSpPr>
          <p:cNvPr id="5" name="Rectangle 4"/>
          <p:cNvSpPr/>
          <p:nvPr/>
        </p:nvSpPr>
        <p:spPr>
          <a:xfrm>
            <a:off x="5458968" y="2926080"/>
            <a:ext cx="1271016" cy="18288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0" y="3291840"/>
            <a:ext cx="12188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Microsoft YaHei"/>
              </a:defRPr>
            </a:pPr>
            <a:r>
              <a:t>2026.4.7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49039"/>
            <a:ext cx="121889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Microsoft YaHei"/>
              </a:defRPr>
            </a:pPr>
            <a:r>
              <a:rPr dirty="0" err="1"/>
              <a:t>汇报人</a:t>
            </a:r>
            <a:r>
              <a:rPr dirty="0"/>
              <a:t>：</a:t>
            </a:r>
            <a:r>
              <a:rPr lang="zh-CN" altLang="en-US" dirty="0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赵恢栋，常修源，黄鑫，魏奕晨，</a:t>
            </a:r>
            <a:br>
              <a:rPr lang="en-US" altLang="zh-CN" dirty="0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zh-CN" altLang="en-US" dirty="0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唐雪茹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0" y="594360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88"/>
                </a:solidFill>
                <a:latin typeface="Microsoft YaHei"/>
              </a:defRPr>
            </a:pPr>
            <a:r>
              <a:t>感谢您的聆听，欢迎批评指正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1088</Words>
  <Application>Microsoft Office PowerPoint</Application>
  <PresentationFormat>宽屏</PresentationFormat>
  <Paragraphs>125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3" baseType="lpstr">
      <vt:lpstr>Noto Sans SC</vt:lpstr>
      <vt:lpstr>微软雅黑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hd bored</cp:lastModifiedBy>
  <cp:revision>4</cp:revision>
  <dcterms:created xsi:type="dcterms:W3CDTF">2013-01-27T09:14:16Z</dcterms:created>
  <dcterms:modified xsi:type="dcterms:W3CDTF">2026-04-07T06:47:10Z</dcterms:modified>
  <cp:category/>
</cp:coreProperties>
</file>