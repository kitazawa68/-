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77" r:id="rId9"/>
    <p:sldId id="278" r:id="rId10"/>
    <p:sldId id="279" r:id="rId11"/>
    <p:sldId id="262" r:id="rId12"/>
    <p:sldId id="263" r:id="rId13"/>
    <p:sldId id="264" r:id="rId14"/>
    <p:sldId id="265" r:id="rId15"/>
    <p:sldId id="274" r:id="rId16"/>
    <p:sldId id="267" r:id="rId17"/>
    <p:sldId id="268" r:id="rId18"/>
    <p:sldId id="269" r:id="rId19"/>
    <p:sldId id="270" r:id="rId20"/>
    <p:sldId id="271" r:id="rId21"/>
    <p:sldId id="273" r:id="rId22"/>
    <p:sldId id="272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51" y="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数据库小组作业成果展示。今天，我将向大家汇报我们小组设计的“基于SpringBoot的校园二手交易系统”。这个项目旨在解决校园内二手物品交易的痛点，构建一个高效、安全的线上平台。希望通过这次展示，能让大家对我们的系统设计有一个全面的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报告将分为四个部分。首先，我会介绍项目的背景与选题初衷；接着，深入讲解数据库设计的核心理论与方法；然后，通过ER图直观展示系统的数据模型；最后，呈现系统核心数据表的具体结构。希望能通过这个结构，让大家对我们的设计思路有一个清晰的认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一部分：项目背景与选题。在这一部分，我将向大家阐述我们为什么选择开发校园二手交易系统，它的现实意义和核心价值在哪里，以及我们希望通过这个系统解决哪些关键问题。这将为我们后续的设计方案提供坚实的立论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深入设计之前，我们首先分析了当前校园二手交易的现状。我们发现，传统的交易方式存在信息不透明、效率低下等痛点。同时，大学生对二手交易的需求却在不断增长。因此，我们的系统旨在解决这些问题，提供一个信息透明、交易便捷、安全可靠的平台，实现资源的有效循环利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选择这个课题，我们主要基于以下四点考虑：首先，通过全流程在线化，我们可以显著提升交易效率；其次，我们希望通过优化信息匹配机制，解决信息不对称的问题；第三，该项目能够促进校园内的资源循环，响应国家的可持续发展号召；最后，它也能为大学生提供一个实践平台，提升他们的资产管理和交易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：数据库设计核心。这是我们项目的技术核心所在。在这一部分，我将介绍我们数据库设计的理论基础，详细定义系统中的核心实体和它们之间的关系，并解释我们设定主键与外键的原则，从而构建起整个系统数据模型的理论框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6F09B-0C4C-6D6B-BA31-516C58E3D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111545-6699-9C1B-79CF-FCBD70AF7F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22DDA3-C8AA-0CE7-F3CA-3473B7033D9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DC3C0CB-B890-2604-EEDD-B01F6439D8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D1FB261-651C-829C-9826-2DAD661CB7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：数据库设计核心。这是我们项目的技术核心所在。在这一部分，我将介绍我们数据库设计的理论基础，详细定义系统中的核心实体和它们之间的关系，并解释我们设定主键与外键的原则，从而构建起整个系统数据模型的理论框架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CAD42-3B0A-8C92-7973-2E2AA6611C8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3C86C-B908-CA47-2B04-55BB36EC6C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83430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96D06-A5DB-17A7-20EB-83C5AA48C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DFE4ED-106C-6878-64B6-1C7585ADAB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6D549-B146-25D5-5C6D-11559C71DE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E604E30-644A-00D6-9D8A-F2C2B59A79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A47D0F1-2F3E-6051-BC3A-B01FD54A2C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：数据库设计核心。这是我们项目的技术核心所在。在这一部分，我将介绍我们数据库设计的理论基础，详细定义系统中的核心实体和它们之间的关系，并解释我们设定主键与外键的原则，从而构建起整个系统数据模型的理论框架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743F0-B494-7BCC-2993-7CADB12185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90C69-94FC-4301-9256-77EDA0310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2710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90F1A-C38C-DB3D-6742-4DA3F3027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1F61B4-B361-A36E-401D-638E21554C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FC055B-D300-3F9B-FF10-C4B7F374587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60311E9-53AD-79CA-F924-125A7BB7A0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B7AC1F3-5957-4152-03FC-57F39E9A40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：数据库设计核心。这是我们项目的技术核心所在。在这一部分，我将介绍我们数据库设计的理论基础，详细定义系统中的核心实体和它们之间的关系，并解释我们设定主键与外键的原则，从而构建起整个系统数据模型的理论框架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E17F2-AA5D-8930-0B15-21F2EA163C2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E1D7D-7E77-10DB-1C9E-DEA327911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42935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数据库设计中，我们首先识别并定义了系统中的五个关键数据对象，也就是核心实体。它们分别是用户、商品信息、订单、求购信息和评论记录。每个实体都有其唯一的主键标识，并包含了支持业务功能所需的各种属性。例如，用户实体记录了用户的基本信息，商品信息实体则记录了待售商品的详细情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定义了核心实体后，我们需要梳理它们之间的关系。我们主要分析了四种关系：首先是用户与商品、求购信息之间的一对多发布关系；其次是用户之间通过订单建立的交易关系；第三是用户与评论之间的一对多互动关系；最后是用户与商品之间的多对多收藏关系。这些关系共同构成了系统的业务逻辑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数据库设计中，主键和外键的设计至关重要。我们遵循的原则是，选择唯一、稳定且与业务无关的字段作为主键，因此我们统一使用自增的id作为各表的主键。而外键则用于建立实体间的关联，例如订单表中的user_id和sale_id分别关联到用户表，从而维护了数据的一致性和完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三部分：系统ER图展示。在这一部分，我们将综合前面分析的实体和关系，以ER图的形式，直观、系统地向大家展示我们校园二手交易系统的整体数据模型架构。这张图将帮助我们更清晰地理解系统的数据库设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C507E-3461-AC9F-84D6-7EC48B37E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72F4DDF-EC30-AED0-F455-489E729EEB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F1AA06-3A65-4FF7-63C7-051C81EDD1C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654A2AD-541C-5A78-60E1-F433F8E503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BA20E82-73DB-48B1-3E14-0E42D23564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三部分：系统ER图展示。在这一部分，我们将综合前面分析的实体和关系，以ER图的形式，直观、系统地向大家展示我们校园二手交易系统的整体数据模型架构。这张图将帮助我们更清晰地理解系统的数据库设计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DC5F54-8BE4-DEEE-36E6-A0076F6912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3299E-4E37-053B-D3EC-52F2FB032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999860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ER图中，我们可以看到两个核心的业务实体关联。首先是用户、商品和订单之间的关系，买家购买商品生成订单，通过订单表中的用户ID，我们可以轻松实现买家查看购买记录、卖家查看销售记录的业务闭环。其次是用户、互动和评论之间的关系，我们通过设计pid和root_id字段，实现了树状的评论结构，让用户之间的互动逻辑更加清晰和高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进入第四部分：数据表结构展示。在这一部分，我们将把前面的概念模型转化为具体的物理模型，向大家展示系统核心数据表的详细结构，包括每个字段的名称、数据类型以及它们的作用，这也是我们数据库设计的最终实现形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用户模型表。这个表主要用于记录系统用户的核心档案信息，包括用户ID、用户名、密码、姓名、电话和邮箱等。其中，id是主键，用于唯一标识每个用户。这个表是整个系统的基础，所有其他业务操作都与用户信息相关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商品信息模型表。这个表用于记录卖家发布的所有商品的详细信息，包括商品ID、名称、价格、描述、状态以及发布者的用户ID。其中，user_id是外键，关联到用户表，这样我们就能知道每件商品是由哪个用户发布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订单信息模型表。这个表是交易的核心，它关联了买家（user_id）、卖家（sale_id）和商品（通过商品名称或ID关联），并记录了订单编号、总金额、支付状态等关键信息。通过这个表，我们可以完整地追踪每一笔交易的全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71726-96CD-0159-07B1-5DED4C6C1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71CB942-D4EC-9E67-84D7-84C2CED7D4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7A143E-604C-C63A-8489-E14A98BF87E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2B17D77-B68E-2AB9-3802-6CE85554B6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75C3B2E-952B-062C-4E3C-562EAF64C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三部分：系统ER图展示。在这一部分，我们将综合前面分析的实体和关系，以ER图的形式，直观、系统地向大家展示我们校园二手交易系统的整体数据模型架构。这张图将帮助我们更清晰地理解系统的数据库设计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398CE8-CD4F-7AC7-BA71-05820A5FF9E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5079A-37BC-F140-24C8-AA9B146F8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593932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我的汇报到此结束。感谢各位老师和同学的聆听！我们的项目还有很多需要完善的地方，欢迎大家提出宝贵的意见和建议。谢谢！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svg"/><Relationship Id="rId4" Type="http://schemas.openxmlformats.org/officeDocument/2006/relationships/image" Target="../media/image4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609600"/>
            <a:ext cx="1524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09600" y="711200"/>
            <a:ext cx="508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058400" y="6197600"/>
            <a:ext cx="1524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074400" y="6096000"/>
            <a:ext cx="508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9600" y="1270000"/>
            <a:ext cx="812800" cy="812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20800" y="2286000"/>
            <a:ext cx="9550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校园二手交易系统设计</a:t>
            </a:r>
            <a:endParaRPr lang="en-US" sz="1100" dirty="0"/>
          </a:p>
        </p:txBody>
      </p:sp>
      <p:cxnSp>
        <p:nvCxnSpPr>
          <p:cNvPr id="8" name="Connector 8"/>
          <p:cNvCxnSpPr/>
          <p:nvPr/>
        </p:nvCxnSpPr>
        <p:spPr>
          <a:xfrm rot="-17188">
            <a:off x="4826016" y="3168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1016000" y="342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BAE6F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数据库小组作业成果展示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845472" y="4445000"/>
            <a:ext cx="4501055" cy="120431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972472" y="4572000"/>
            <a:ext cx="4148083" cy="94067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报告人</a:t>
            </a:r>
            <a:r>
              <a:rPr lang="en-US" sz="1600" b="0" i="0" u="none" strike="noStrike" dirty="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600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赵恢栋，常修源，黄鑫，魏奕晨，</a:t>
            </a:r>
            <a:br>
              <a:rPr lang="en-US" altLang="zh-CN" sz="1600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600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唐雪茹</a:t>
            </a:r>
            <a:endParaRPr lang="en-US" altLang="zh-CN" sz="1050" dirty="0"/>
          </a:p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 2026.3.17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762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905000" y="1778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项目背景与选题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0" y="1841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62000" y="2667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2794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905000" y="2794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数据库设计核心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0" y="2857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62000" y="3683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16000" y="3810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905000" y="3810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系统ER图展示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0" y="38735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62000" y="4699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4826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905000" y="4826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数据表结构展示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0" y="4889500"/>
            <a:ext cx="508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pattFill prst="lgGrid">
            <a:fgClr>
              <a:srgbClr val="FFFFFF">
                <a:alpha val="3137"/>
              </a:srgbClr>
            </a:fgClr>
            <a:bgClr>
              <a:srgbClr val="FFFFFF">
                <a:alpha val="0"/>
              </a:srgbClr>
            </a:bgClr>
          </a:patt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9600" y="1397000"/>
            <a:ext cx="812800" cy="812800"/>
          </a:xfrm>
          <a:prstGeom prst="rect">
            <a:avLst/>
          </a:prstGeom>
          <a:effectLst>
            <a:outerShdw blurRad="254000" dir="2700000" algn="tl" rotWithShape="0">
              <a:srgbClr val="38BDF8">
                <a:alpha val="5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3556000" y="2349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400">
                <a:solidFill>
                  <a:srgbClr val="38BDF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416300" y="2794000"/>
            <a:ext cx="5359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项目背景与选题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34376">
            <a:off x="5461032" y="3676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651000" y="4064000"/>
            <a:ext cx="889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阐述选择开发校园二手交易系统的初衷、现实意义与核心价值，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明确项目旨在解决的关键问题，为整个设计方案提供立论基础。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0" y="3175000"/>
            <a:ext cx="3048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31750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359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聚焦痛点，明确系统价值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762040" y="1263650"/>
            <a:ext cx="101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38BDF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968500" y="1905000"/>
            <a:ext cx="889000" cy="889000"/>
          </a:xfrm>
          <a:prstGeom prst="ellipse">
            <a:avLst/>
          </a:prstGeom>
          <a:solidFill>
            <a:srgbClr val="38BDF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9000" y="2095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17780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>
                    <a:alpha val="3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行业痛点分析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429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目前校内交易方式（如QQ群、校园墙）存在信息不对等、交易效率低等弊端。现存平台用户信用较低、商品价格评定机制不完善。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651500" y="1905000"/>
            <a:ext cx="889000" cy="889000"/>
          </a:xfrm>
          <a:prstGeom prst="ellipse">
            <a:avLst/>
          </a:prstGeom>
          <a:solidFill>
            <a:srgbClr val="38BDF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0" y="2095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572000" y="17780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>
                    <a:alpha val="3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2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现实需求分析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35500" y="3429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随着经济水平提高，大学生购买力增强，闲置物品增多，对高效、便捷的二手物品交易平台的需求日益迫切</a:t>
            </a:r>
            <a:r>
              <a:rPr lang="en-US" sz="1400" b="0" i="0" u="none" strike="noStrike" dirty="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8128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334500" y="1905000"/>
            <a:ext cx="889000" cy="889000"/>
          </a:xfrm>
          <a:prstGeom prst="ellipse">
            <a:avLst/>
          </a:prstGeom>
          <a:solidFill>
            <a:srgbClr val="38BDF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0" y="20955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255000" y="17780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>
                    <a:alpha val="3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255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项目价值体现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18500" y="3429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建立信息透明、交易便捷、安全性强的平台，有效帮助大学生进行资源交换，出售闲置，购买所需，实现资源循环利用。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38BDF8">
              <a:alpha val="1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016000" y="558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通过技术手段解决校园交易信任难题，构建高效、安全的校园二手生态闭环。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26797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为何选择此题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93C5F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87500" y="20955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01 提升交易效率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87500" y="2514600"/>
            <a:ext cx="400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系统将商品发布、求购、购买与支付全流程在线化，比传统的线下市场或QQ群交易更加便捷和高效。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905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93C5F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2159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75500" y="20955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02 优化信息匹配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75500" y="2514600"/>
            <a:ext cx="400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解决信息不对称问题，卖家可以长时间曝光商品，买家也可通过求购专区寻找所需物品。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810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93C5F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064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87500" y="40005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03 促进资源循环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87500" y="4419600"/>
            <a:ext cx="400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拉动校内经济流通，促进资源的共享和循环利用，符合“节能减排”的可持续发展理念。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3810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93C5F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4064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75500" y="40005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04 提升管理能力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75500" y="4419600"/>
            <a:ext cx="400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让大学生在买卖闲置物品的过程中，学会如何管理自己的资产，培养交易技巧。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  <a:alpha val="0"/>
            </a:schemeClr>
          </a:solidFill>
          <a:ln cap="flat" cmpd="sng">
            <a:solidFill>
              <a:srgbClr val="E6CFCF">
                <a:alpha val="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749040" y="1270000"/>
            <a:ext cx="469392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数据库设计核心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2159000"/>
            <a:ext cx="762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介绍数据库设计的理论基础，详细定义系统中的核心实体、实体间关系，并明确主键与外键的设定原则，构建系统数据模型的理论框架。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24000" y="4064000"/>
            <a:ext cx="2286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3800" y="4254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4762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理论基础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064000" y="4064000"/>
            <a:ext cx="2286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3800" y="4254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064000" y="4762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核心实体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0" y="4064000"/>
            <a:ext cx="2286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3800" y="4254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604000" y="4762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关系定义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144000" y="4064000"/>
            <a:ext cx="2286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3800" y="4254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144000" y="4762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键设定原则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3E148D-28C1-A4AA-1F4E-62BEF8AEC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4CF62E55-81D2-5D9C-CE9F-C26D32B81246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">
            <a:extLst>
              <a:ext uri="{FF2B5EF4-FFF2-40B4-BE49-F238E27FC236}">
                <a16:creationId xmlns:a16="http://schemas.microsoft.com/office/drawing/2014/main" id="{82EDBA6E-8C32-E557-83CB-F142317EF0B2}"/>
              </a:ext>
            </a:extLst>
          </p:cNvPr>
          <p:cNvSpPr/>
          <p:nvPr/>
        </p:nvSpPr>
        <p:spPr>
          <a:xfrm>
            <a:off x="2070100" y="1016000"/>
            <a:ext cx="8051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需求分析与实体推导</a:t>
            </a:r>
            <a:endParaRPr lang="en-US" sz="1100" dirty="0"/>
          </a:p>
        </p:txBody>
      </p:sp>
      <p:sp>
        <p:nvSpPr>
          <p:cNvPr id="32" name="AutoShape 4">
            <a:extLst>
              <a:ext uri="{FF2B5EF4-FFF2-40B4-BE49-F238E27FC236}">
                <a16:creationId xmlns:a16="http://schemas.microsoft.com/office/drawing/2014/main" id="{718F9137-350E-7CAF-1369-ACA89C40F847}"/>
              </a:ext>
            </a:extLst>
          </p:cNvPr>
          <p:cNvSpPr/>
          <p:nvPr/>
        </p:nvSpPr>
        <p:spPr>
          <a:xfrm>
            <a:off x="5715000" y="1905000"/>
            <a:ext cx="762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5">
            <a:extLst>
              <a:ext uri="{FF2B5EF4-FFF2-40B4-BE49-F238E27FC236}">
                <a16:creationId xmlns:a16="http://schemas.microsoft.com/office/drawing/2014/main" id="{B3333B8A-5AF7-5BDE-5F9E-68C3B253606B}"/>
              </a:ext>
            </a:extLst>
          </p:cNvPr>
          <p:cNvSpPr/>
          <p:nvPr/>
        </p:nvSpPr>
        <p:spPr>
          <a:xfrm>
            <a:off x="1270000" y="2286000"/>
            <a:ext cx="965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从学生、卖家、平台三个核心角色的视角出发，深入分析其核心需求，以此为基础，推导出系统所需的核心实体与数据模型，确保设计方案的合理性与实用性。</a:t>
            </a:r>
            <a:endParaRPr lang="en-US" sz="1100"/>
          </a:p>
        </p:txBody>
      </p:sp>
      <p:sp>
        <p:nvSpPr>
          <p:cNvPr id="34" name="AutoShape 6">
            <a:extLst>
              <a:ext uri="{FF2B5EF4-FFF2-40B4-BE49-F238E27FC236}">
                <a16:creationId xmlns:a16="http://schemas.microsoft.com/office/drawing/2014/main" id="{4327FFD4-494C-B986-794D-1DEDDE368DBF}"/>
              </a:ext>
            </a:extLst>
          </p:cNvPr>
          <p:cNvSpPr/>
          <p:nvPr/>
        </p:nvSpPr>
        <p:spPr>
          <a:xfrm>
            <a:off x="1016000" y="3683000"/>
            <a:ext cx="304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5" name="Picture 7">
            <a:extLst>
              <a:ext uri="{FF2B5EF4-FFF2-40B4-BE49-F238E27FC236}">
                <a16:creationId xmlns:a16="http://schemas.microsoft.com/office/drawing/2014/main" id="{89B8D0BE-1B8A-0B06-1EE0-A5CCE4D3E0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0" y="3937000"/>
            <a:ext cx="508000" cy="508000"/>
          </a:xfrm>
          <a:prstGeom prst="rect">
            <a:avLst/>
          </a:prstGeom>
        </p:spPr>
      </p:pic>
      <p:sp>
        <p:nvSpPr>
          <p:cNvPr id="36" name="AutoShape 8">
            <a:extLst>
              <a:ext uri="{FF2B5EF4-FFF2-40B4-BE49-F238E27FC236}">
                <a16:creationId xmlns:a16="http://schemas.microsoft.com/office/drawing/2014/main" id="{26F06736-DFB7-7B63-9B05-27086DABF6A1}"/>
              </a:ext>
            </a:extLst>
          </p:cNvPr>
          <p:cNvSpPr/>
          <p:nvPr/>
        </p:nvSpPr>
        <p:spPr>
          <a:xfrm>
            <a:off x="1016000" y="4572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学生 (买家)</a:t>
            </a:r>
            <a:endParaRPr lang="en-US" sz="1100"/>
          </a:p>
        </p:txBody>
      </p:sp>
      <p:sp>
        <p:nvSpPr>
          <p:cNvPr id="37" name="AutoShape 9">
            <a:extLst>
              <a:ext uri="{FF2B5EF4-FFF2-40B4-BE49-F238E27FC236}">
                <a16:creationId xmlns:a16="http://schemas.microsoft.com/office/drawing/2014/main" id="{A8AC2D01-A6B3-4D4B-3307-EBC8C7147696}"/>
              </a:ext>
            </a:extLst>
          </p:cNvPr>
          <p:cNvSpPr/>
          <p:nvPr/>
        </p:nvSpPr>
        <p:spPr>
          <a:xfrm>
            <a:off x="4572000" y="3683000"/>
            <a:ext cx="304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8" name="Picture 10">
            <a:extLst>
              <a:ext uri="{FF2B5EF4-FFF2-40B4-BE49-F238E27FC236}">
                <a16:creationId xmlns:a16="http://schemas.microsoft.com/office/drawing/2014/main" id="{12C6E9EE-9469-05FA-792F-3A139A63AB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0" y="3937000"/>
            <a:ext cx="508000" cy="508000"/>
          </a:xfrm>
          <a:prstGeom prst="rect">
            <a:avLst/>
          </a:prstGeom>
        </p:spPr>
      </p:pic>
      <p:sp>
        <p:nvSpPr>
          <p:cNvPr id="39" name="AutoShape 11">
            <a:extLst>
              <a:ext uri="{FF2B5EF4-FFF2-40B4-BE49-F238E27FC236}">
                <a16:creationId xmlns:a16="http://schemas.microsoft.com/office/drawing/2014/main" id="{D990AC6B-628C-5771-322E-AD94929A0FF0}"/>
              </a:ext>
            </a:extLst>
          </p:cNvPr>
          <p:cNvSpPr/>
          <p:nvPr/>
        </p:nvSpPr>
        <p:spPr>
          <a:xfrm>
            <a:off x="4572000" y="4572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卖家</a:t>
            </a:r>
            <a:endParaRPr lang="en-US" sz="1100"/>
          </a:p>
        </p:txBody>
      </p:sp>
      <p:sp>
        <p:nvSpPr>
          <p:cNvPr id="40" name="AutoShape 12">
            <a:extLst>
              <a:ext uri="{FF2B5EF4-FFF2-40B4-BE49-F238E27FC236}">
                <a16:creationId xmlns:a16="http://schemas.microsoft.com/office/drawing/2014/main" id="{3713ED5D-282C-DC84-6DCF-61E517326BCA}"/>
              </a:ext>
            </a:extLst>
          </p:cNvPr>
          <p:cNvSpPr/>
          <p:nvPr/>
        </p:nvSpPr>
        <p:spPr>
          <a:xfrm>
            <a:off x="8128000" y="3683000"/>
            <a:ext cx="304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1" name="Picture 13">
            <a:extLst>
              <a:ext uri="{FF2B5EF4-FFF2-40B4-BE49-F238E27FC236}">
                <a16:creationId xmlns:a16="http://schemas.microsoft.com/office/drawing/2014/main" id="{50DEA945-339F-5013-78BF-7E6BCAD642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8000" y="3937000"/>
            <a:ext cx="508000" cy="508000"/>
          </a:xfrm>
          <a:prstGeom prst="rect">
            <a:avLst/>
          </a:prstGeom>
        </p:spPr>
      </p:pic>
      <p:sp>
        <p:nvSpPr>
          <p:cNvPr id="42" name="AutoShape 14">
            <a:extLst>
              <a:ext uri="{FF2B5EF4-FFF2-40B4-BE49-F238E27FC236}">
                <a16:creationId xmlns:a16="http://schemas.microsoft.com/office/drawing/2014/main" id="{03F344F9-F3D0-E21E-F928-8FD39D67F68A}"/>
              </a:ext>
            </a:extLst>
          </p:cNvPr>
          <p:cNvSpPr/>
          <p:nvPr/>
        </p:nvSpPr>
        <p:spPr>
          <a:xfrm>
            <a:off x="8128000" y="4572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366205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919F36-7C91-07D1-3E3E-2A177E732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85F65867-5DF1-52E2-49FE-4B65F51776EA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499D8CB-72D1-F8F0-99B1-1A5100391527}"/>
              </a:ext>
            </a:extLst>
          </p:cNvPr>
          <p:cNvSpPr/>
          <p:nvPr/>
        </p:nvSpPr>
        <p:spPr>
          <a:xfrm>
            <a:off x="761998" y="762000"/>
            <a:ext cx="5359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多角色视角下的需求分析</a:t>
            </a:r>
            <a:endParaRPr lang="en-US" sz="1100"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8D95BA00-0B3D-D273-2542-A1A9685E36C8}"/>
              </a:ext>
            </a:extLst>
          </p:cNvPr>
          <p:cNvSpPr/>
          <p:nvPr/>
        </p:nvSpPr>
        <p:spPr>
          <a:xfrm>
            <a:off x="761998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6F939E-F41E-5C80-00E0-3619564AE5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5498" y="1714500"/>
            <a:ext cx="609600" cy="609600"/>
          </a:xfrm>
          <a:prstGeom prst="rect">
            <a:avLst/>
          </a:prstGeom>
        </p:spPr>
      </p:pic>
      <p:sp>
        <p:nvSpPr>
          <p:cNvPr id="6" name="AutoShape 5">
            <a:extLst>
              <a:ext uri="{FF2B5EF4-FFF2-40B4-BE49-F238E27FC236}">
                <a16:creationId xmlns:a16="http://schemas.microsoft.com/office/drawing/2014/main" id="{BC23B249-40C7-E9B0-7AFE-0F6A637591CF}"/>
              </a:ext>
            </a:extLst>
          </p:cNvPr>
          <p:cNvSpPr/>
          <p:nvPr/>
        </p:nvSpPr>
        <p:spPr>
          <a:xfrm>
            <a:off x="761998" y="2413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学生（买家）视角</a:t>
            </a:r>
            <a:endParaRPr lang="en-US" sz="1100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3EF76497-366A-DFBD-D8A7-4FA7DD0C153C}"/>
              </a:ext>
            </a:extLst>
          </p:cNvPr>
          <p:cNvSpPr/>
          <p:nvPr/>
        </p:nvSpPr>
        <p:spPr>
          <a:xfrm>
            <a:off x="952498" y="28575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7800" indent="-177800" algn="l">
              <a:lnSpc>
                <a:spcPct val="108333"/>
              </a:lnSpc>
              <a:buClr>
                <a:srgbClr val="E5E7EB"/>
              </a:buClr>
              <a:buChar char="•"/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便捷查找：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快速找到物美价廉的闲置物品</a:t>
            </a:r>
            <a:endParaRPr lang="en-US" sz="1100"/>
          </a:p>
          <a:p>
            <a:pPr marL="177800" indent="-177800" algn="l">
              <a:lnSpc>
                <a:spcPct val="108333"/>
              </a:lnSpc>
              <a:buClr>
                <a:srgbClr val="E5E7EB"/>
              </a:buClr>
              <a:buChar char="•"/>
            </a:pPr>
            <a:r>
              <a:rPr lang="en-US" sz="14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信息透明：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了解商品真实状况与卖家信誉</a:t>
            </a:r>
          </a:p>
          <a:p>
            <a:pPr marL="177800" indent="-177800" algn="l">
              <a:lnSpc>
                <a:spcPct val="108333"/>
              </a:lnSpc>
              <a:buClr>
                <a:srgbClr val="E5E7EB"/>
              </a:buClr>
              <a:buChar char="•"/>
            </a:pPr>
            <a:r>
              <a:rPr lang="en-US" sz="14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安全交易：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支付安全，交易过程有保障</a:t>
            </a:r>
          </a:p>
          <a:p>
            <a:pPr marL="177800" indent="-177800" algn="l">
              <a:lnSpc>
                <a:spcPct val="108333"/>
              </a:lnSpc>
              <a:buClr>
                <a:srgbClr val="E5E7EB"/>
              </a:buClr>
              <a:buChar char="•"/>
            </a:pPr>
            <a:r>
              <a:rPr lang="en-US" sz="14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互动咨询：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方便地与卖家沟通商品细节</a:t>
            </a: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88C6C633-1B9B-4533-943D-7902AFA0355C}"/>
              </a:ext>
            </a:extLst>
          </p:cNvPr>
          <p:cNvSpPr/>
          <p:nvPr/>
        </p:nvSpPr>
        <p:spPr>
          <a:xfrm>
            <a:off x="4444998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5E758E-33EB-6C2B-0ADD-0476DA0DEE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498" y="1714500"/>
            <a:ext cx="609600" cy="609600"/>
          </a:xfrm>
          <a:prstGeom prst="rect">
            <a:avLst/>
          </a:prstGeom>
        </p:spPr>
      </p:pic>
      <p:sp>
        <p:nvSpPr>
          <p:cNvPr id="10" name="AutoShape 9">
            <a:extLst>
              <a:ext uri="{FF2B5EF4-FFF2-40B4-BE49-F238E27FC236}">
                <a16:creationId xmlns:a16="http://schemas.microsoft.com/office/drawing/2014/main" id="{DD2B6780-EF71-DF6E-AFE3-FD24B67F0A9C}"/>
              </a:ext>
            </a:extLst>
          </p:cNvPr>
          <p:cNvSpPr/>
          <p:nvPr/>
        </p:nvSpPr>
        <p:spPr>
          <a:xfrm>
            <a:off x="4444998" y="2413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卖家视角</a:t>
            </a:r>
            <a:endParaRPr lang="en-US" sz="1100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83C830A0-4FD4-F5A4-6410-6DB83D705744}"/>
              </a:ext>
            </a:extLst>
          </p:cNvPr>
          <p:cNvSpPr/>
          <p:nvPr/>
        </p:nvSpPr>
        <p:spPr>
          <a:xfrm>
            <a:off x="4635498" y="28575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7800" indent="-177800" algn="l">
              <a:lnSpc>
                <a:spcPct val="108333"/>
              </a:lnSpc>
              <a:buClr>
                <a:srgbClr val="E5E7EB"/>
              </a:buClr>
              <a:buChar char="•"/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快速发布：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便捷地上传商品信息和图片</a:t>
            </a:r>
            <a:endParaRPr lang="en-US" sz="1100"/>
          </a:p>
          <a:p>
            <a:pPr marL="177800" indent="-177800" algn="l">
              <a:lnSpc>
                <a:spcPct val="108333"/>
              </a:lnSpc>
              <a:buClr>
                <a:srgbClr val="E5E7EB"/>
              </a:buClr>
              <a:buChar char="•"/>
            </a:pPr>
            <a:r>
              <a:rPr lang="en-US" sz="14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高效曝光：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商品能被更多潜在买家看到</a:t>
            </a:r>
          </a:p>
          <a:p>
            <a:pPr marL="177800" indent="-177800" algn="l">
              <a:lnSpc>
                <a:spcPct val="108333"/>
              </a:lnSpc>
              <a:buClr>
                <a:srgbClr val="E5E7EB"/>
              </a:buClr>
              <a:buChar char="•"/>
            </a:pPr>
            <a:r>
              <a:rPr lang="en-US" sz="14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交易管理：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方便地处理订单、发货和收款</a:t>
            </a:r>
          </a:p>
          <a:p>
            <a:pPr marL="177800" indent="-177800" algn="l">
              <a:lnSpc>
                <a:spcPct val="108333"/>
              </a:lnSpc>
              <a:buClr>
                <a:srgbClr val="E5E7EB"/>
              </a:buClr>
              <a:buChar char="•"/>
            </a:pPr>
            <a:r>
              <a:rPr lang="en-US" sz="14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信用积累：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建立个人信誉，促进后续交易</a:t>
            </a:r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31F4FAE0-268C-DAAB-B127-96CB0A74EB8F}"/>
              </a:ext>
            </a:extLst>
          </p:cNvPr>
          <p:cNvSpPr/>
          <p:nvPr/>
        </p:nvSpPr>
        <p:spPr>
          <a:xfrm>
            <a:off x="8127998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6DB781-3F82-2934-D5EE-B5B845A809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61498" y="1714500"/>
            <a:ext cx="609600" cy="609600"/>
          </a:xfrm>
          <a:prstGeom prst="rect">
            <a:avLst/>
          </a:prstGeom>
        </p:spPr>
      </p:pic>
      <p:sp>
        <p:nvSpPr>
          <p:cNvPr id="14" name="AutoShape 13">
            <a:extLst>
              <a:ext uri="{FF2B5EF4-FFF2-40B4-BE49-F238E27FC236}">
                <a16:creationId xmlns:a16="http://schemas.microsoft.com/office/drawing/2014/main" id="{404B2E38-69B8-8E15-10E1-2EF0D154FB73}"/>
              </a:ext>
            </a:extLst>
          </p:cNvPr>
          <p:cNvSpPr/>
          <p:nvPr/>
        </p:nvSpPr>
        <p:spPr>
          <a:xfrm>
            <a:off x="8127998" y="2413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平台视角</a:t>
            </a:r>
            <a:endParaRPr lang="en-US" sz="1100"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C9F69204-2BF9-558D-92AB-A0F1EF45FF4A}"/>
              </a:ext>
            </a:extLst>
          </p:cNvPr>
          <p:cNvSpPr/>
          <p:nvPr/>
        </p:nvSpPr>
        <p:spPr>
          <a:xfrm>
            <a:off x="8318498" y="28575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7800" indent="-177800" algn="l">
              <a:lnSpc>
                <a:spcPct val="108333"/>
              </a:lnSpc>
              <a:buClr>
                <a:srgbClr val="E5E7EB"/>
              </a:buClr>
              <a:buChar char="•"/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用户管理：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维护用户信息，确保真实性</a:t>
            </a:r>
            <a:endParaRPr lang="en-US" sz="1100"/>
          </a:p>
          <a:p>
            <a:pPr marL="177800" indent="-177800" algn="l">
              <a:lnSpc>
                <a:spcPct val="108333"/>
              </a:lnSpc>
              <a:buClr>
                <a:srgbClr val="E5E7EB"/>
              </a:buClr>
              <a:buChar char="•"/>
            </a:pPr>
            <a:r>
              <a:rPr lang="en-US" sz="14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商品监管：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审核商品信息，杜绝违规内容</a:t>
            </a:r>
          </a:p>
          <a:p>
            <a:pPr marL="177800" indent="-177800" algn="l">
              <a:lnSpc>
                <a:spcPct val="108333"/>
              </a:lnSpc>
              <a:buClr>
                <a:srgbClr val="E5E7EB"/>
              </a:buClr>
              <a:buChar char="•"/>
            </a:pPr>
            <a:r>
              <a:rPr lang="en-US" sz="14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交易保障：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提供支付渠道，处理交易纠纷</a:t>
            </a:r>
          </a:p>
          <a:p>
            <a:pPr marL="177800" indent="-177800" algn="l">
              <a:lnSpc>
                <a:spcPct val="108333"/>
              </a:lnSpc>
              <a:buClr>
                <a:srgbClr val="E5E7EB"/>
              </a:buClr>
              <a:buChar char="•"/>
            </a:pPr>
            <a:r>
              <a:rPr lang="en-US" sz="14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数据分析：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了解用户行为，优化平台功能</a:t>
            </a:r>
          </a:p>
        </p:txBody>
      </p: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A626CD3B-C25F-93F1-8709-612CB4F85008}"/>
              </a:ext>
            </a:extLst>
          </p:cNvPr>
          <p:cNvCxnSpPr/>
          <p:nvPr/>
        </p:nvCxnSpPr>
        <p:spPr>
          <a:xfrm rot="-4092">
            <a:off x="762002" y="545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6">
            <a:extLst>
              <a:ext uri="{FF2B5EF4-FFF2-40B4-BE49-F238E27FC236}">
                <a16:creationId xmlns:a16="http://schemas.microsoft.com/office/drawing/2014/main" id="{AD1DF863-D7AE-09BB-ACC5-BC0E41F36D97}"/>
              </a:ext>
            </a:extLst>
          </p:cNvPr>
          <p:cNvSpPr/>
          <p:nvPr/>
        </p:nvSpPr>
        <p:spPr>
          <a:xfrm>
            <a:off x="761998" y="558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通过对买家、卖家和平台三方需求的深度洞察，构建安全、高效、透明的校园二手交易生态系统。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978440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C38BDE-3F7B-483E-A4A1-D3B50BC94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57A08C9A-D531-3776-D86F-965A5EC8A23D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">
            <a:extLst>
              <a:ext uri="{FF2B5EF4-FFF2-40B4-BE49-F238E27FC236}">
                <a16:creationId xmlns:a16="http://schemas.microsoft.com/office/drawing/2014/main" id="{0B46EEB0-6B21-F910-62E0-5E33AB00F111}"/>
              </a:ext>
            </a:extLst>
          </p:cNvPr>
          <p:cNvSpPr/>
          <p:nvPr/>
        </p:nvSpPr>
        <p:spPr>
          <a:xfrm>
            <a:off x="762000" y="571500"/>
            <a:ext cx="5359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从需求到实体的推导过程</a:t>
            </a:r>
            <a:endParaRPr lang="en-US" sz="1100"/>
          </a:p>
        </p:txBody>
      </p:sp>
      <p:sp>
        <p:nvSpPr>
          <p:cNvPr id="19" name="AutoShape 3">
            <a:extLst>
              <a:ext uri="{FF2B5EF4-FFF2-40B4-BE49-F238E27FC236}">
                <a16:creationId xmlns:a16="http://schemas.microsoft.com/office/drawing/2014/main" id="{8050E10E-2FA4-865E-0D5F-6CE117F7C92E}"/>
              </a:ext>
            </a:extLst>
          </p:cNvPr>
          <p:cNvSpPr/>
          <p:nvPr/>
        </p:nvSpPr>
        <p:spPr>
          <a:xfrm>
            <a:off x="762000" y="1460500"/>
            <a:ext cx="51435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54E8185F-488D-74FA-F491-31615F0EDC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14500"/>
            <a:ext cx="406400" cy="406400"/>
          </a:xfrm>
          <a:prstGeom prst="rect">
            <a:avLst/>
          </a:prstGeom>
        </p:spPr>
      </p:pic>
      <p:sp>
        <p:nvSpPr>
          <p:cNvPr id="21" name="AutoShape 5">
            <a:extLst>
              <a:ext uri="{FF2B5EF4-FFF2-40B4-BE49-F238E27FC236}">
                <a16:creationId xmlns:a16="http://schemas.microsoft.com/office/drawing/2014/main" id="{72B09ACE-43DF-D5B6-7967-ACE96665CB1B}"/>
              </a:ext>
            </a:extLst>
          </p:cNvPr>
          <p:cNvSpPr/>
          <p:nvPr/>
        </p:nvSpPr>
        <p:spPr>
          <a:xfrm>
            <a:off x="1524000" y="16637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用户管理需求</a:t>
            </a:r>
            <a:endParaRPr lang="en-US" sz="1100"/>
          </a:p>
        </p:txBody>
      </p:sp>
      <p:pic>
        <p:nvPicPr>
          <p:cNvPr id="22" name="Picture 6">
            <a:extLst>
              <a:ext uri="{FF2B5EF4-FFF2-40B4-BE49-F238E27FC236}">
                <a16:creationId xmlns:a16="http://schemas.microsoft.com/office/drawing/2014/main" id="{EC627640-34D5-6E86-3678-1462DC13DC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6900" y="2095500"/>
            <a:ext cx="254000" cy="254000"/>
          </a:xfrm>
          <a:prstGeom prst="rect">
            <a:avLst/>
          </a:prstGeom>
        </p:spPr>
      </p:pic>
      <p:sp>
        <p:nvSpPr>
          <p:cNvPr id="23" name="AutoShape 7">
            <a:extLst>
              <a:ext uri="{FF2B5EF4-FFF2-40B4-BE49-F238E27FC236}">
                <a16:creationId xmlns:a16="http://schemas.microsoft.com/office/drawing/2014/main" id="{11AC021B-2445-8E79-B763-2ED7DA4FAB5C}"/>
              </a:ext>
            </a:extLst>
          </p:cNvPr>
          <p:cNvSpPr/>
          <p:nvPr/>
        </p:nvSpPr>
        <p:spPr>
          <a:xfrm>
            <a:off x="1016000" y="2476500"/>
            <a:ext cx="463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用户实体 (User)</a:t>
            </a:r>
            <a:endParaRPr lang="en-US" sz="1100"/>
          </a:p>
        </p:txBody>
      </p:sp>
      <p:sp>
        <p:nvSpPr>
          <p:cNvPr id="24" name="AutoShape 8">
            <a:extLst>
              <a:ext uri="{FF2B5EF4-FFF2-40B4-BE49-F238E27FC236}">
                <a16:creationId xmlns:a16="http://schemas.microsoft.com/office/drawing/2014/main" id="{F79F6854-9149-3187-AC95-0A92DC158A68}"/>
              </a:ext>
            </a:extLst>
          </p:cNvPr>
          <p:cNvSpPr/>
          <p:nvPr/>
        </p:nvSpPr>
        <p:spPr>
          <a:xfrm>
            <a:off x="1016000" y="28575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为满足注册、登录和信息管理需求，抽象出用户实体。包含账号、密码、姓名、联系方式等核心属性。</a:t>
            </a:r>
            <a:endParaRPr lang="en-US" sz="1100"/>
          </a:p>
        </p:txBody>
      </p:sp>
      <p:sp>
        <p:nvSpPr>
          <p:cNvPr id="25" name="AutoShape 9">
            <a:extLst>
              <a:ext uri="{FF2B5EF4-FFF2-40B4-BE49-F238E27FC236}">
                <a16:creationId xmlns:a16="http://schemas.microsoft.com/office/drawing/2014/main" id="{CEB61C96-4496-EE57-1513-066853C05937}"/>
              </a:ext>
            </a:extLst>
          </p:cNvPr>
          <p:cNvSpPr/>
          <p:nvPr/>
        </p:nvSpPr>
        <p:spPr>
          <a:xfrm>
            <a:off x="6286500" y="1460500"/>
            <a:ext cx="51435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26" name="Picture 10">
            <a:extLst>
              <a:ext uri="{FF2B5EF4-FFF2-40B4-BE49-F238E27FC236}">
                <a16:creationId xmlns:a16="http://schemas.microsoft.com/office/drawing/2014/main" id="{DA13D500-8042-E1C2-979B-CACCC1E1EF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1714500"/>
            <a:ext cx="406400" cy="406400"/>
          </a:xfrm>
          <a:prstGeom prst="rect">
            <a:avLst/>
          </a:prstGeom>
        </p:spPr>
      </p:pic>
      <p:sp>
        <p:nvSpPr>
          <p:cNvPr id="27" name="AutoShape 11">
            <a:extLst>
              <a:ext uri="{FF2B5EF4-FFF2-40B4-BE49-F238E27FC236}">
                <a16:creationId xmlns:a16="http://schemas.microsoft.com/office/drawing/2014/main" id="{37777DB6-9606-A785-1C0E-9D17E672B7D1}"/>
              </a:ext>
            </a:extLst>
          </p:cNvPr>
          <p:cNvSpPr/>
          <p:nvPr/>
        </p:nvSpPr>
        <p:spPr>
          <a:xfrm>
            <a:off x="7048500" y="16637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商品发布与浏览需求</a:t>
            </a:r>
            <a:endParaRPr lang="en-US" sz="1100"/>
          </a:p>
        </p:txBody>
      </p:sp>
      <p:pic>
        <p:nvPicPr>
          <p:cNvPr id="28" name="Picture 12">
            <a:extLst>
              <a:ext uri="{FF2B5EF4-FFF2-40B4-BE49-F238E27FC236}">
                <a16:creationId xmlns:a16="http://schemas.microsoft.com/office/drawing/2014/main" id="{AE528E3A-0157-7369-7DA6-ECB0480A80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1400" y="2095500"/>
            <a:ext cx="254000" cy="254000"/>
          </a:xfrm>
          <a:prstGeom prst="rect">
            <a:avLst/>
          </a:prstGeom>
        </p:spPr>
      </p:pic>
      <p:sp>
        <p:nvSpPr>
          <p:cNvPr id="29" name="AutoShape 13">
            <a:extLst>
              <a:ext uri="{FF2B5EF4-FFF2-40B4-BE49-F238E27FC236}">
                <a16:creationId xmlns:a16="http://schemas.microsoft.com/office/drawing/2014/main" id="{73C1A9DC-C9FA-464A-F771-271E45720903}"/>
              </a:ext>
            </a:extLst>
          </p:cNvPr>
          <p:cNvSpPr/>
          <p:nvPr/>
        </p:nvSpPr>
        <p:spPr>
          <a:xfrm>
            <a:off x="6540500" y="2476500"/>
            <a:ext cx="463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商品信息实体 (Goods)</a:t>
            </a:r>
            <a:endParaRPr lang="en-US" sz="1100"/>
          </a:p>
        </p:txBody>
      </p:sp>
      <p:sp>
        <p:nvSpPr>
          <p:cNvPr id="30" name="AutoShape 14">
            <a:extLst>
              <a:ext uri="{FF2B5EF4-FFF2-40B4-BE49-F238E27FC236}">
                <a16:creationId xmlns:a16="http://schemas.microsoft.com/office/drawing/2014/main" id="{003F3E7A-C34A-A7B9-6118-ABB54BA7B56C}"/>
              </a:ext>
            </a:extLst>
          </p:cNvPr>
          <p:cNvSpPr/>
          <p:nvPr/>
        </p:nvSpPr>
        <p:spPr>
          <a:xfrm>
            <a:off x="6540500" y="28575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为支持卖家发布和买家浏览，抽象出商品信息实体。包含名称、价格、详情描述、图片等属性。</a:t>
            </a:r>
            <a:endParaRPr lang="en-US" sz="1100"/>
          </a:p>
        </p:txBody>
      </p:sp>
      <p:sp>
        <p:nvSpPr>
          <p:cNvPr id="31" name="AutoShape 15">
            <a:extLst>
              <a:ext uri="{FF2B5EF4-FFF2-40B4-BE49-F238E27FC236}">
                <a16:creationId xmlns:a16="http://schemas.microsoft.com/office/drawing/2014/main" id="{68B2197C-AD27-79D4-7E82-DC2BB5DF9F68}"/>
              </a:ext>
            </a:extLst>
          </p:cNvPr>
          <p:cNvSpPr/>
          <p:nvPr/>
        </p:nvSpPr>
        <p:spPr>
          <a:xfrm>
            <a:off x="762000" y="4000500"/>
            <a:ext cx="51435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32" name="Picture 16">
            <a:extLst>
              <a:ext uri="{FF2B5EF4-FFF2-40B4-BE49-F238E27FC236}">
                <a16:creationId xmlns:a16="http://schemas.microsoft.com/office/drawing/2014/main" id="{2BD4B4C3-9D7F-5F82-E1CC-773EBD10EC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254500"/>
            <a:ext cx="406400" cy="406400"/>
          </a:xfrm>
          <a:prstGeom prst="rect">
            <a:avLst/>
          </a:prstGeom>
        </p:spPr>
      </p:pic>
      <p:sp>
        <p:nvSpPr>
          <p:cNvPr id="33" name="AutoShape 17">
            <a:extLst>
              <a:ext uri="{FF2B5EF4-FFF2-40B4-BE49-F238E27FC236}">
                <a16:creationId xmlns:a16="http://schemas.microsoft.com/office/drawing/2014/main" id="{8D3FAA18-3F26-69B5-C26D-41615C0688EE}"/>
              </a:ext>
            </a:extLst>
          </p:cNvPr>
          <p:cNvSpPr/>
          <p:nvPr/>
        </p:nvSpPr>
        <p:spPr>
          <a:xfrm>
            <a:off x="1524000" y="42037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交易与订单管理需求</a:t>
            </a:r>
            <a:endParaRPr lang="en-US" sz="1100"/>
          </a:p>
        </p:txBody>
      </p:sp>
      <p:pic>
        <p:nvPicPr>
          <p:cNvPr id="34" name="Picture 18">
            <a:extLst>
              <a:ext uri="{FF2B5EF4-FFF2-40B4-BE49-F238E27FC236}">
                <a16:creationId xmlns:a16="http://schemas.microsoft.com/office/drawing/2014/main" id="{DB0C3F0E-8189-34B8-D014-D80A68C40E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6900" y="4635500"/>
            <a:ext cx="254000" cy="254000"/>
          </a:xfrm>
          <a:prstGeom prst="rect">
            <a:avLst/>
          </a:prstGeom>
        </p:spPr>
      </p:pic>
      <p:sp>
        <p:nvSpPr>
          <p:cNvPr id="35" name="AutoShape 19">
            <a:extLst>
              <a:ext uri="{FF2B5EF4-FFF2-40B4-BE49-F238E27FC236}">
                <a16:creationId xmlns:a16="http://schemas.microsoft.com/office/drawing/2014/main" id="{EC4E356D-E753-2217-AC17-E9898416F742}"/>
              </a:ext>
            </a:extLst>
          </p:cNvPr>
          <p:cNvSpPr/>
          <p:nvPr/>
        </p:nvSpPr>
        <p:spPr>
          <a:xfrm>
            <a:off x="1016000" y="5016500"/>
            <a:ext cx="463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订单实体 (Order)</a:t>
            </a:r>
            <a:endParaRPr lang="en-US" sz="1100"/>
          </a:p>
        </p:txBody>
      </p:sp>
      <p:sp>
        <p:nvSpPr>
          <p:cNvPr id="36" name="AutoShape 20">
            <a:extLst>
              <a:ext uri="{FF2B5EF4-FFF2-40B4-BE49-F238E27FC236}">
                <a16:creationId xmlns:a16="http://schemas.microsoft.com/office/drawing/2014/main" id="{C60D12D7-3163-570F-3413-E68928788370}"/>
              </a:ext>
            </a:extLst>
          </p:cNvPr>
          <p:cNvSpPr/>
          <p:nvPr/>
        </p:nvSpPr>
        <p:spPr>
          <a:xfrm>
            <a:off x="1016000" y="53975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为记录买卖双方交易行为，抽象出订单实体。包含关联商品、买卖双方信息、成交价格及状态等。</a:t>
            </a:r>
            <a:endParaRPr lang="en-US" sz="1100"/>
          </a:p>
        </p:txBody>
      </p:sp>
      <p:sp>
        <p:nvSpPr>
          <p:cNvPr id="37" name="AutoShape 21">
            <a:extLst>
              <a:ext uri="{FF2B5EF4-FFF2-40B4-BE49-F238E27FC236}">
                <a16:creationId xmlns:a16="http://schemas.microsoft.com/office/drawing/2014/main" id="{6870CB1A-7960-C9C0-9531-4D4167BC02D0}"/>
              </a:ext>
            </a:extLst>
          </p:cNvPr>
          <p:cNvSpPr/>
          <p:nvPr/>
        </p:nvSpPr>
        <p:spPr>
          <a:xfrm>
            <a:off x="6286500" y="4000500"/>
            <a:ext cx="51435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38" name="Picture 22">
            <a:extLst>
              <a:ext uri="{FF2B5EF4-FFF2-40B4-BE49-F238E27FC236}">
                <a16:creationId xmlns:a16="http://schemas.microsoft.com/office/drawing/2014/main" id="{E837A63A-CF3A-EA3B-2557-D4A4FADC8B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4254500"/>
            <a:ext cx="406400" cy="406400"/>
          </a:xfrm>
          <a:prstGeom prst="rect">
            <a:avLst/>
          </a:prstGeom>
        </p:spPr>
      </p:pic>
      <p:sp>
        <p:nvSpPr>
          <p:cNvPr id="39" name="AutoShape 23">
            <a:extLst>
              <a:ext uri="{FF2B5EF4-FFF2-40B4-BE49-F238E27FC236}">
                <a16:creationId xmlns:a16="http://schemas.microsoft.com/office/drawing/2014/main" id="{D52C126C-26B7-7C59-6D38-2DE9B80253B1}"/>
              </a:ext>
            </a:extLst>
          </p:cNvPr>
          <p:cNvSpPr/>
          <p:nvPr/>
        </p:nvSpPr>
        <p:spPr>
          <a:xfrm>
            <a:off x="7048500" y="42037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求购与互动需求</a:t>
            </a:r>
            <a:endParaRPr lang="en-US" sz="1100"/>
          </a:p>
        </p:txBody>
      </p:sp>
      <p:pic>
        <p:nvPicPr>
          <p:cNvPr id="40" name="Picture 24">
            <a:extLst>
              <a:ext uri="{FF2B5EF4-FFF2-40B4-BE49-F238E27FC236}">
                <a16:creationId xmlns:a16="http://schemas.microsoft.com/office/drawing/2014/main" id="{3D4D147B-5523-BD60-E936-A29B26CECD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1400" y="4635500"/>
            <a:ext cx="254000" cy="254000"/>
          </a:xfrm>
          <a:prstGeom prst="rect">
            <a:avLst/>
          </a:prstGeom>
        </p:spPr>
      </p:pic>
      <p:sp>
        <p:nvSpPr>
          <p:cNvPr id="41" name="AutoShape 25">
            <a:extLst>
              <a:ext uri="{FF2B5EF4-FFF2-40B4-BE49-F238E27FC236}">
                <a16:creationId xmlns:a16="http://schemas.microsoft.com/office/drawing/2014/main" id="{C118F8DE-6112-1D13-6BDE-04346E3EB4A6}"/>
              </a:ext>
            </a:extLst>
          </p:cNvPr>
          <p:cNvSpPr/>
          <p:nvPr/>
        </p:nvSpPr>
        <p:spPr>
          <a:xfrm>
            <a:off x="6540500" y="5016500"/>
            <a:ext cx="463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求购信息 (Purchase) &amp; 评论 (Comment)</a:t>
            </a:r>
            <a:endParaRPr lang="en-US" sz="1100"/>
          </a:p>
        </p:txBody>
      </p:sp>
      <p:sp>
        <p:nvSpPr>
          <p:cNvPr id="42" name="AutoShape 26">
            <a:extLst>
              <a:ext uri="{FF2B5EF4-FFF2-40B4-BE49-F238E27FC236}">
                <a16:creationId xmlns:a16="http://schemas.microsoft.com/office/drawing/2014/main" id="{7D1F352E-A895-EA67-CA61-C6E4B9B7FC2C}"/>
              </a:ext>
            </a:extLst>
          </p:cNvPr>
          <p:cNvSpPr/>
          <p:nvPr/>
        </p:nvSpPr>
        <p:spPr>
          <a:xfrm>
            <a:off x="6540500" y="53975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为满足用户发布求购信息和互动评论需求，分别抽象出求购信息实体和评论实体。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725127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核心实体定义：系统关键数据对象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93C5F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600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 (User)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唯一标识：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id (主键)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主要属性：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账号、密码、姓名、身份、手机号、邮箱等基本信息。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394200" y="1397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93C5F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1651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156200" y="1600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商品信息 (Goods)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48200" y="2095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唯一标识：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id (主键)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主要属性：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名称、价格、详情、上架日期、种类、所属用户id等。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026400" y="1397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93C5F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0400" y="1651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788400" y="1600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订单 (Order)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80400" y="2095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唯一标识：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id (主键)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主要属性：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商品名称、订单编号、总价、支付时间、收货人、卖家id等。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2578100" y="3937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93C5F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32100" y="4191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3340100" y="4140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求购信息 (Purchase)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832100" y="4635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唯一标识：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id (主键)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主要属性：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用户姓名、收货地址、电话号码、发布求购的用户id等。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3937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93C5F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191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4140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评论记录 (Comment)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77000" y="4635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唯一标识：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id (主键)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主要属性：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评论内容、评论人、父级id、评论时间、关联id等。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实体关系梳理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1841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发布关系 (一对多)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用户与商品/求购信息之间存在发布关系。一个用户可以发布多条商品信息或求购信息，建立基础的信息供给。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86500" y="1651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905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12000" y="1841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交易关系 (多对多转化)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540500" y="2413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用户通过购买商品形成交易，订单模型将商品信息、买家信息以及支付信息关联起来，完成价值交换闭环。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810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064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87500" y="4000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互动关系 (一对多)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572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用户在商品详情页或求购专区可进行评论，一条商品或求购记录下可包含多条用户的评论记录，促进社区活跃。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86500" y="3810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500" y="4064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4000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收藏关系 (多对多)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40500" y="4572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用户可以收藏商品，收藏记录通过模块属性记录来源，通过关联id确定具体收藏的物品，便于用户快速回访。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主键外键设计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3368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74800" y="2286000"/>
            <a:ext cx="4013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主键设计原则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844800"/>
            <a:ext cx="44704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核心原则：选择具有唯一性、稳定性且业务无关的字段。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5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设计示例：</a:t>
            </a:r>
          </a:p>
          <a:p>
            <a:pPr marL="177800" indent="-177800" algn="l">
              <a:lnSpc>
                <a:spcPct val="116666"/>
              </a:lnSpc>
              <a:buClr>
                <a:srgbClr val="D1D5DB"/>
              </a:buClr>
              <a:buChar char="•"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统一采用</a:t>
            </a:r>
            <a:r>
              <a:rPr lang="en-US" sz="14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id (int类型)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作为各表主键</a:t>
            </a:r>
          </a:p>
          <a:p>
            <a:pPr marL="177800" indent="-177800" algn="l">
              <a:lnSpc>
                <a:spcPct val="116666"/>
              </a:lnSpc>
              <a:buClr>
                <a:srgbClr val="D1D5DB"/>
              </a:buClr>
              <a:buChar char="•"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用于唯一标识记录，确保数据独立性</a:t>
            </a:r>
          </a:p>
        </p:txBody>
      </p:sp>
      <p:sp>
        <p:nvSpPr>
          <p:cNvPr id="8" name="AutoShape 8"/>
          <p:cNvSpPr/>
          <p:nvPr/>
        </p:nvSpPr>
        <p:spPr>
          <a:xfrm>
            <a:off x="6350000" y="2032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4800" y="23368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62800" y="2286000"/>
            <a:ext cx="4013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外键设计原则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54800" y="2844800"/>
            <a:ext cx="44704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核心原则：建立实体间关系，维护数据一致性。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5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设计示例：</a:t>
            </a:r>
          </a:p>
          <a:p>
            <a:pPr marL="177800" indent="-177800" algn="l">
              <a:lnSpc>
                <a:spcPct val="116666"/>
              </a:lnSpc>
              <a:buClr>
                <a:srgbClr val="D1D5DB"/>
              </a:buClr>
              <a:buChar char="•"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订单表：</a:t>
            </a:r>
            <a:r>
              <a:rPr lang="en-US" sz="14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sale_id, user_id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参照用户表主键</a:t>
            </a:r>
          </a:p>
          <a:p>
            <a:pPr marL="177800" indent="-177800" algn="l">
              <a:lnSpc>
                <a:spcPct val="116666"/>
              </a:lnSpc>
              <a:buClr>
                <a:srgbClr val="D1D5DB"/>
              </a:buClr>
              <a:buChar char="•"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商品表：</a:t>
            </a:r>
            <a:r>
              <a:rPr lang="en-US" sz="14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user_id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参照用户表主键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60A5FA">
              <a:alpha val="15000"/>
            </a:srgbClr>
          </a:solidFill>
          <a:ln w="12700" cap="flat" cmpd="sng">
            <a:solidFill>
              <a:srgbClr val="60A5F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5118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5461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设计目标：</a:t>
            </a:r>
            <a:r>
              <a:rPr lang="en-US" sz="16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通过合理的主键与外键设计，确保系统数据的唯一性、完整性与关联一致性。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3416300" y="1016000"/>
            <a:ext cx="5359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系统ER图展示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715000" y="1905000"/>
            <a:ext cx="762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9600" y="2413000"/>
            <a:ext cx="812800" cy="812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3556000"/>
            <a:ext cx="914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综合前述实体与关系分析，以实体-关系图（ER图）的形式</a:t>
            </a:r>
            <a:r>
              <a:rPr lang="en-US" sz="18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8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直观、系统地呈现校园二手交易系统的整体数据模型架构</a:t>
            </a:r>
            <a:r>
              <a:rPr lang="en-US" sz="18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0" y="609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DATA MODEL ARCHITECTURE &amp; RELATIONSHIP ANALYSIS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692400"/>
            <a:ext cx="25400" cy="508000"/>
          </a:xfrm>
          <a:prstGeom prst="roundRect">
            <a:avLst>
              <a:gd name="adj" fmla="val 0"/>
            </a:avLst>
          </a:prstGeom>
          <a:solidFill>
            <a:srgbClr val="38BDF8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04600" y="2692400"/>
            <a:ext cx="25400" cy="508000"/>
          </a:xfrm>
          <a:prstGeom prst="roundRect">
            <a:avLst>
              <a:gd name="adj" fmla="val 0"/>
            </a:avLst>
          </a:prstGeom>
          <a:solidFill>
            <a:srgbClr val="38BDF8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21A5E2-12FA-6295-B0BF-6E6866811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EAA3B24-85AB-4126-A341-A2659D60F2D6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FC0E0BD8-6829-A48E-7AED-7B389D264AA2}"/>
              </a:ext>
            </a:extLst>
          </p:cNvPr>
          <p:cNvSpPr/>
          <p:nvPr/>
        </p:nvSpPr>
        <p:spPr>
          <a:xfrm>
            <a:off x="0" y="609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DATA MODEL ARCHITECTURE &amp; RELATIONSHIP ANALYSIS</a:t>
            </a:r>
            <a:endParaRPr lang="en-US" sz="11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B3F1C159-A96C-3A81-FDB5-80E8545F5AFD}"/>
              </a:ext>
            </a:extLst>
          </p:cNvPr>
          <p:cNvSpPr/>
          <p:nvPr/>
        </p:nvSpPr>
        <p:spPr>
          <a:xfrm>
            <a:off x="762000" y="2692400"/>
            <a:ext cx="25400" cy="508000"/>
          </a:xfrm>
          <a:prstGeom prst="roundRect">
            <a:avLst>
              <a:gd name="adj" fmla="val 0"/>
            </a:avLst>
          </a:prstGeom>
          <a:solidFill>
            <a:srgbClr val="38BDF8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22AB3782-B2DA-7AD5-0532-4447C92DB0D8}"/>
              </a:ext>
            </a:extLst>
          </p:cNvPr>
          <p:cNvSpPr/>
          <p:nvPr/>
        </p:nvSpPr>
        <p:spPr>
          <a:xfrm>
            <a:off x="11404600" y="2692400"/>
            <a:ext cx="25400" cy="508000"/>
          </a:xfrm>
          <a:prstGeom prst="roundRect">
            <a:avLst>
              <a:gd name="adj" fmla="val 0"/>
            </a:avLst>
          </a:prstGeom>
          <a:solidFill>
            <a:srgbClr val="38BDF8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FE1EB67-E464-427A-754F-A99155BB1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379" y="425423"/>
            <a:ext cx="8991600" cy="5549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617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6248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深入解读核心业务实体关联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762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222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01 用户-商品-订单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买家用户购买卖家发布的商品，生成订单记录。通过订单表中的卖家id和买家id，实现卖家查看售出订单以及买家查看购买订单的业务闭环。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3000" y="2222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350000" y="2032000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604000" y="2222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02 用户-互动-评论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0" y="2667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用户对商品或求购信息发表评论，评论模型通过“pid”和“root_id”字段实现了树状评论结构的关联，使互动逻辑更加清晰。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41000" y="22225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62000" y="4953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38BDF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143500"/>
            <a:ext cx="381000" cy="381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5105400"/>
            <a:ext cx="965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核心价值：通过实体间的关联设计，构建了完整的交易闭环与互动生态，提升了系统的业务流转效率。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pattFill prst="lgGrid">
            <a:fgClr>
              <a:srgbClr val="FFFFFF">
                <a:alpha val="3137"/>
              </a:srgbClr>
            </a:fgClr>
            <a:bgClr>
              <a:srgbClr val="FFFFFF">
                <a:alpha val="0"/>
              </a:srgbClr>
            </a:bgClr>
          </a:patt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073400" y="1524000"/>
            <a:ext cx="6045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数据表结构展示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2413000"/>
            <a:ext cx="762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9600" y="2794000"/>
            <a:ext cx="812800" cy="812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3937000"/>
            <a:ext cx="965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将概念模型转化为物理模型，展示系统核心数据表的具体结构，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包括字段名、数据类型等，呈现数据库的最终实现形式。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508000" y="6096000"/>
            <a:ext cx="254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0" y="6096000"/>
            <a:ext cx="254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38BDF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2235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用户模型表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87500"/>
            <a:ext cx="762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841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用于记录使用系统的普通用户和管理员的核心档案信息，是系统权限管理与身份认证的基础。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10668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2413000"/>
          <a:ext cx="10668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8BDF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字段名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8BDF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数据类型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8BDF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作用说明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int (主键)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用户唯一标识，自增主键，用于关联其他业务表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username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varchar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用户登录账号，具有唯一性，用于系统登录验证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password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varchar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用户登录密码，存储加密后的密文，确保账户安全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name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varchar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用户真实姓名或昵称，用于界面展示和业务称呼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phone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varchar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用户手机号码，用于短信验证、通知及找回密码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38BDF8">
              <a:alpha val="1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5651500"/>
            <a:ext cx="381000" cy="381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5562600"/>
            <a:ext cx="965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该表作为系统的基础核心表，承载了所有用户的身份信息，是权限控制、数据隔离和个性化服务的基石。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12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商品信息模型表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079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93C5FD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93C5F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89000" y="1524000"/>
          <a:ext cx="10160000" cy="2590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93C5F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字段名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93C5F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数据类型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93C5F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作用说明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int (主键)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商品唯一标识，自增ID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name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varchar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商品名称，限制长度以确保索引效率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price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decimal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商品价格，精确存储金额，避免浮点误差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content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text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商品详细描述内容，支持大文本存储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user_id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int (外键)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关联用户表主键，标识该商品的发布者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762000" y="4699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1E3A8A">
              <a:alpha val="40000"/>
            </a:srgbClr>
          </a:solidFill>
          <a:ln w="12700" cap="flat" cmpd="sng">
            <a:solidFill>
              <a:srgbClr val="93C5F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4953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4826000"/>
            <a:ext cx="952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核心关联逻辑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该表记录卖家发布的商品详细信息，通过</a:t>
            </a:r>
            <a:r>
              <a:rPr lang="en-US" sz="1400" b="1" i="0" u="none" strike="noStrike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user_id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字段与用户表（User Table）建立一对多关系，实现数据的关联查询与权限控制。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12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订单信息模型表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762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58366" cy="3504324"/>
          </a:xfrm>
          <a:prstGeom prst="roundRect">
            <a:avLst>
              <a:gd name="adj" fmla="val 454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89000" y="1778000"/>
          <a:ext cx="10160000" cy="34239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8BDF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字段名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8BDF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数据类型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8BDF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作用说明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int (主键)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订单唯一标识，自增ID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good_name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varchar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商品名称，关联商品信息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order_no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varchar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订单编号，唯一业务单号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total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decimal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订单总金额，精确计算费用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user_id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买家ID，关联用户信息表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sale_id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卖家ID，关联商家信息表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status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tinyint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订单状态（如：待支付、已发货、已完成</a:t>
                      </a:r>
                      <a:r>
                        <a:rPr lang="en-US" sz="1400" b="0" i="0" u="none" strike="noStrike" dirty="0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）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752366" y="5245538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38BDF8">
              <a:alpha val="1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6366" y="5563038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41366" y="5372538"/>
            <a:ext cx="952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核心作用：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该表是交易系统的核心枢纽，通过关联买家（user_id）、卖家（sale_id）和商品信息，完整记录了每一笔交易的支付详情、物流状态及资金流向，确保交易链路的可追溯性与完整性。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58F7C9-4443-0E9A-71F8-72A87405B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239738E-0052-D8CB-7716-ECC5053356D6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414A495F-F677-00E4-D446-3B81F4F5EB5E}"/>
              </a:ext>
            </a:extLst>
          </p:cNvPr>
          <p:cNvSpPr/>
          <p:nvPr/>
        </p:nvSpPr>
        <p:spPr>
          <a:xfrm>
            <a:off x="762000" y="2692400"/>
            <a:ext cx="25400" cy="508000"/>
          </a:xfrm>
          <a:prstGeom prst="roundRect">
            <a:avLst>
              <a:gd name="adj" fmla="val 0"/>
            </a:avLst>
          </a:prstGeom>
          <a:solidFill>
            <a:srgbClr val="38BDF8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65A75CD4-1DB9-748B-E8CA-C7C377840348}"/>
              </a:ext>
            </a:extLst>
          </p:cNvPr>
          <p:cNvSpPr/>
          <p:nvPr/>
        </p:nvSpPr>
        <p:spPr>
          <a:xfrm>
            <a:off x="11404600" y="2692400"/>
            <a:ext cx="25400" cy="508000"/>
          </a:xfrm>
          <a:prstGeom prst="roundRect">
            <a:avLst>
              <a:gd name="adj" fmla="val 0"/>
            </a:avLst>
          </a:prstGeom>
          <a:solidFill>
            <a:srgbClr val="38BDF8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278BE2F-430F-0FFD-D476-4EC51068D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902754"/>
            <a:ext cx="10617200" cy="532988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A251223-FA31-6365-25B3-F25FCCA7BC9E}"/>
              </a:ext>
            </a:extLst>
          </p:cNvPr>
          <p:cNvSpPr txBox="1"/>
          <p:nvPr/>
        </p:nvSpPr>
        <p:spPr>
          <a:xfrm>
            <a:off x="3060700" y="490008"/>
            <a:ext cx="6096000" cy="336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表</a:t>
            </a:r>
            <a:endParaRPr lang="en-US" altLang="zh-CN" sz="800" dirty="0"/>
          </a:p>
        </p:txBody>
      </p:sp>
    </p:spTree>
    <p:extLst>
      <p:ext uri="{BB962C8B-B14F-4D97-AF65-F5344CB8AC3E}">
        <p14:creationId xmlns:p14="http://schemas.microsoft.com/office/powerpoint/2010/main" val="3440399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5080000" cy="50800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652000" y="4318000"/>
            <a:ext cx="3810000" cy="38100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9600" y="1270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4749800" y="2286000"/>
            <a:ext cx="26797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谢谢观看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232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0" y="355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2026.3.17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4064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</a:t>
            </a:r>
            <a:r>
              <a:rPr lang="en-US" sz="1800" b="0" i="0" u="none" strike="noStrike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800" b="0" i="0" u="none" strike="noStrike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赵恢栋，常修源，黄鑫，魏奕晨，唐雪茹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0" y="6096000"/>
            <a:ext cx="1219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感谢您的聆听，欢迎批评指正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1349</Words>
  <Application>Microsoft Office PowerPoint</Application>
  <PresentationFormat>宽屏</PresentationFormat>
  <Paragraphs>271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hd bored</dc:creator>
  <cp:lastModifiedBy>hd bored</cp:lastModifiedBy>
  <cp:revision>6</cp:revision>
  <dcterms:modified xsi:type="dcterms:W3CDTF">2026-04-06T06:13:37Z</dcterms:modified>
</cp:coreProperties>
</file>